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333" r:id="rId5"/>
    <p:sldId id="326" r:id="rId6"/>
    <p:sldId id="365" r:id="rId7"/>
    <p:sldId id="259" r:id="rId8"/>
    <p:sldId id="335" r:id="rId9"/>
    <p:sldId id="261" r:id="rId10"/>
    <p:sldId id="262" r:id="rId11"/>
    <p:sldId id="263" r:id="rId12"/>
    <p:sldId id="264" r:id="rId13"/>
    <p:sldId id="265" r:id="rId14"/>
    <p:sldId id="356" r:id="rId15"/>
    <p:sldId id="260" r:id="rId16"/>
    <p:sldId id="266" r:id="rId17"/>
    <p:sldId id="363" r:id="rId18"/>
    <p:sldId id="364" r:id="rId19"/>
    <p:sldId id="367" r:id="rId20"/>
    <p:sldId id="286" r:id="rId21"/>
    <p:sldId id="426" r:id="rId22"/>
    <p:sldId id="267" r:id="rId23"/>
    <p:sldId id="269" r:id="rId24"/>
    <p:sldId id="362" r:id="rId25"/>
    <p:sldId id="428" r:id="rId26"/>
    <p:sldId id="429" r:id="rId27"/>
    <p:sldId id="430" r:id="rId28"/>
    <p:sldId id="271" r:id="rId29"/>
    <p:sldId id="359" r:id="rId30"/>
    <p:sldId id="427" r:id="rId31"/>
    <p:sldId id="366" r:id="rId32"/>
    <p:sldId id="273" r:id="rId33"/>
    <p:sldId id="275" r:id="rId34"/>
    <p:sldId id="317" r:id="rId35"/>
    <p:sldId id="276" r:id="rId36"/>
    <p:sldId id="278" r:id="rId37"/>
    <p:sldId id="279"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969" autoAdjust="0"/>
  </p:normalViewPr>
  <p:slideViewPr>
    <p:cSldViewPr snapToGrid="0" snapToObjects="1">
      <p:cViewPr varScale="1">
        <p:scale>
          <a:sx n="69" d="100"/>
          <a:sy n="69" d="100"/>
        </p:scale>
        <p:origin x="144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9551-3679-4F54-92A3-804EFA08A935}" type="datetimeFigureOut">
              <a:rPr lang="en-IN" smtClean="0"/>
              <a:t>08-09-2026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2F817A-2D8A-436D-92CB-380D5C8C17B8}" type="slidenum">
              <a:rPr lang="en-IN" smtClean="0"/>
              <a:t>‹#›</a:t>
            </a:fld>
            <a:endParaRPr lang="en-IN"/>
          </a:p>
        </p:txBody>
      </p:sp>
    </p:spTree>
    <p:extLst>
      <p:ext uri="{BB962C8B-B14F-4D97-AF65-F5344CB8AC3E}">
        <p14:creationId xmlns:p14="http://schemas.microsoft.com/office/powerpoint/2010/main" val="3176191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994A2CB7-3AF4-7AFC-13DC-B9389EE2884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fld id="{F1290ACA-3195-40C1-9DEE-A5C29576D9CF}" type="slidenum">
              <a:rPr lang="en-GB" altLang="en-US" sz="1200">
                <a:latin typeface="Arial" panose="020B0604020202020204" pitchFamily="34" charset="0"/>
              </a:rPr>
              <a:pPr/>
              <a:t>4</a:t>
            </a:fld>
            <a:endParaRPr lang="en-GB" altLang="en-US" sz="1200">
              <a:latin typeface="Arial" panose="020B0604020202020204" pitchFamily="34" charset="0"/>
            </a:endParaRPr>
          </a:p>
        </p:txBody>
      </p:sp>
      <p:sp>
        <p:nvSpPr>
          <p:cNvPr id="25603" name="Rectangle 2">
            <a:extLst>
              <a:ext uri="{FF2B5EF4-FFF2-40B4-BE49-F238E27FC236}">
                <a16:creationId xmlns:a16="http://schemas.microsoft.com/office/drawing/2014/main" id="{E797AFF6-D158-B736-B31F-DE406CF56B9C}"/>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70FED564-851B-1AB9-0EAE-38035BC81BA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66F54091-A07F-0E03-DCFC-9F3F03A8750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fld id="{3149EDDC-28EB-4F42-A2CD-8134D6B8BF58}" type="slidenum">
              <a:rPr lang="en-GB" altLang="en-US" sz="1200">
                <a:latin typeface="Arial" panose="020B0604020202020204" pitchFamily="34" charset="0"/>
              </a:rPr>
              <a:pPr/>
              <a:t>5</a:t>
            </a:fld>
            <a:endParaRPr lang="en-GB" altLang="en-US" sz="1200">
              <a:latin typeface="Arial" panose="020B0604020202020204" pitchFamily="34" charset="0"/>
            </a:endParaRPr>
          </a:p>
        </p:txBody>
      </p:sp>
      <p:sp>
        <p:nvSpPr>
          <p:cNvPr id="27651" name="Rectangle 2">
            <a:extLst>
              <a:ext uri="{FF2B5EF4-FFF2-40B4-BE49-F238E27FC236}">
                <a16:creationId xmlns:a16="http://schemas.microsoft.com/office/drawing/2014/main" id="{AE7AFCF4-3F34-04CD-35D4-0B51963CE01F}"/>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AE05645E-F5F9-7325-21A1-03F52561DC46}"/>
              </a:ext>
            </a:extLst>
          </p:cNvPr>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F0F797B8-49F7-9703-2820-9C9C7C837F0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fld id="{D7DB137B-00EE-427C-A24B-EF0E9FA27929}" type="slidenum">
              <a:rPr lang="en-GB" altLang="en-US" sz="1200">
                <a:latin typeface="Arial" panose="020B0604020202020204" pitchFamily="34" charset="0"/>
              </a:rPr>
              <a:pPr/>
              <a:t>8</a:t>
            </a:fld>
            <a:endParaRPr lang="en-GB" altLang="en-US" sz="1200">
              <a:latin typeface="Arial" panose="020B0604020202020204" pitchFamily="34" charset="0"/>
            </a:endParaRPr>
          </a:p>
        </p:txBody>
      </p:sp>
      <p:sp>
        <p:nvSpPr>
          <p:cNvPr id="31747" name="Rectangle 2">
            <a:extLst>
              <a:ext uri="{FF2B5EF4-FFF2-40B4-BE49-F238E27FC236}">
                <a16:creationId xmlns:a16="http://schemas.microsoft.com/office/drawing/2014/main" id="{552FAE45-C1DF-74C0-896B-4C1A6381A661}"/>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9DE45976-7C25-66A9-0AE3-56AF2BB7CA8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28600" indent="-228600" eaLnBrk="1" hangingPunct="1">
              <a:buFontTx/>
              <a:buAutoNum type="arabicPeriod"/>
            </a:pPr>
            <a:r>
              <a:rPr lang="en-US" altLang="en-US"/>
              <a:t>If individual level data are available, it would be silly to graph a concentration curve from the quintile or decile cumulative frequencies. One would be throwing information away and producing only an approximation to the concentration curve. Better to compute the cumulative frequencies from the individual level data, with individuals ranked by the living standards variable. </a:t>
            </a:r>
          </a:p>
          <a:p>
            <a:pPr marL="228600" indent="-228600" eaLnBrk="1" hangingPunct="1">
              <a:buFontTx/>
              <a:buAutoNum type="arabicPeriod"/>
            </a:pPr>
            <a:r>
              <a:rPr lang="en-US" altLang="en-US"/>
              <a:t>The example shows the concentration curve for the negative of the height-for-age z-score (haz) in Vietnam in 1993 and 1998 from the respective Vietnam Living Standards Surveys. The more negative is haz, the less well nourished is the child. Since we take the negative haz, a higher number indicates greater malnutrition. Children are ranked from left to right by household consumption per capita.</a:t>
            </a:r>
          </a:p>
          <a:p>
            <a:pPr marL="228600" indent="-228600" eaLnBrk="1" hangingPunct="1">
              <a:buFontTx/>
              <a:buAutoNum type="arabicPeriod"/>
            </a:pPr>
            <a:r>
              <a:rPr lang="en-US" altLang="en-US"/>
              <a:t>Both curves lie above the diagonal indicating that malnutrition is concentrated on the poor in both years.</a:t>
            </a:r>
          </a:p>
          <a:p>
            <a:pPr marL="228600" indent="-228600" eaLnBrk="1" hangingPunct="1">
              <a:buFontTx/>
              <a:buAutoNum type="arabicPeriod"/>
            </a:pPr>
            <a:r>
              <a:rPr lang="en-US" altLang="en-US"/>
              <a:t>For the first two-fifths of the income distribution, there is little or no difference between the concentration curves, indicating that the degree of concentration of malnutrition on the poorest children did not change over time. But further up the distribution, the 1998 curve lies outside that of the 1993 curve suggesting that child malnutrition was more unequally distributed in the later year.</a:t>
            </a:r>
          </a:p>
          <a:p>
            <a:pPr marL="228600" indent="-228600" eaLnBrk="1" hangingPunct="1">
              <a:buFontTx/>
              <a:buAutoNum type="arabicPeriod"/>
            </a:pPr>
            <a:r>
              <a:rPr lang="en-US" altLang="en-US"/>
              <a:t>In Stata, concentration curves can be drawn using the ado glcurve. glvar() gives a name to the y-ordinate of the graph and pvar() to the x-ordinate. These are saved and can be used later. The x-ordinate is the individual’s fractional rank in the living standards distribution. sortvar() declares the variable on which individuals are to be ranked. replace instructs Stata to write over the pvar() variable that will already exist if the command had been run previously. by() requests separate curves split by the dichotomous variable (year). lorenz requests that the y-ordinates of the curve are scaled by the mean of the variable, such that cumulative shares are plotted. If this is left out then a generalised concentration (Lorenz) curve is plotted, i.e cumulative means on the y-axis.</a:t>
            </a:r>
          </a:p>
          <a:p>
            <a:pPr marL="228600" indent="-228600" eaLnBrk="1" hangingPunct="1">
              <a:buFontTx/>
              <a:buAutoNum type="arabicPeriod"/>
            </a:pPr>
            <a:r>
              <a:rPr lang="en-US" altLang="en-US"/>
              <a:t>For more control of the appearance of the graph, the y- and x-ordinates can be passed to twoway.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D9790FC9-E8B7-CE99-DF3A-FF1C02220E4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fld id="{C5857D8F-06FB-457F-A081-28FA64F85C2C}" type="slidenum">
              <a:rPr lang="en-GB" altLang="en-US" sz="1200">
                <a:latin typeface="Arial" panose="020B0604020202020204" pitchFamily="34" charset="0"/>
              </a:rPr>
              <a:pPr/>
              <a:t>14</a:t>
            </a:fld>
            <a:endParaRPr lang="en-GB" altLang="en-US" sz="1200">
              <a:latin typeface="Arial" panose="020B0604020202020204" pitchFamily="34" charset="0"/>
            </a:endParaRPr>
          </a:p>
        </p:txBody>
      </p:sp>
      <p:sp>
        <p:nvSpPr>
          <p:cNvPr id="21507" name="Rectangle 2">
            <a:extLst>
              <a:ext uri="{FF2B5EF4-FFF2-40B4-BE49-F238E27FC236}">
                <a16:creationId xmlns:a16="http://schemas.microsoft.com/office/drawing/2014/main" id="{A3C86F4E-FD26-3A60-FF48-8EC3C2B41C89}"/>
              </a:ext>
            </a:extLst>
          </p:cNvPr>
          <p:cNvSpPr>
            <a:spLocks noChangeArrowheads="1"/>
          </p:cNvSpPr>
          <p:nvPr/>
        </p:nvSpPr>
        <p:spPr bwMode="auto">
          <a:xfrm>
            <a:off x="3886200" y="7938"/>
            <a:ext cx="29718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eaLnBrk="1" hangingPunct="1"/>
            <a:endParaRPr lang="en-IN" altLang="en-US"/>
          </a:p>
        </p:txBody>
      </p:sp>
      <p:sp>
        <p:nvSpPr>
          <p:cNvPr id="21508" name="Rectangle 3">
            <a:extLst>
              <a:ext uri="{FF2B5EF4-FFF2-40B4-BE49-F238E27FC236}">
                <a16:creationId xmlns:a16="http://schemas.microsoft.com/office/drawing/2014/main" id="{38B3BDFC-475D-6F7C-E3A7-B2D04F6EAE32}"/>
              </a:ext>
            </a:extLst>
          </p:cNvPr>
          <p:cNvSpPr>
            <a:spLocks noChangeArrowheads="1"/>
          </p:cNvSpPr>
          <p:nvPr/>
        </p:nvSpPr>
        <p:spPr bwMode="auto">
          <a:xfrm>
            <a:off x="3886200" y="8704263"/>
            <a:ext cx="29718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753" tIns="0" rIns="18753" bIns="0" anchor="b"/>
          <a:lstStyle>
            <a:lvl1pPr defTabSz="750888">
              <a:defRPr sz="3200">
                <a:solidFill>
                  <a:schemeClr val="tx1"/>
                </a:solidFill>
                <a:latin typeface="Times New Roman" panose="02020603050405020304" pitchFamily="18" charset="0"/>
                <a:cs typeface="Arial" panose="020B0604020202020204" pitchFamily="34" charset="0"/>
              </a:defRPr>
            </a:lvl1pPr>
            <a:lvl2pPr marL="742950" indent="-285750" defTabSz="750888">
              <a:defRPr sz="3200">
                <a:solidFill>
                  <a:schemeClr val="tx1"/>
                </a:solidFill>
                <a:latin typeface="Times New Roman" panose="02020603050405020304" pitchFamily="18" charset="0"/>
                <a:cs typeface="Arial" panose="020B0604020202020204" pitchFamily="34" charset="0"/>
              </a:defRPr>
            </a:lvl2pPr>
            <a:lvl3pPr marL="1143000" indent="-228600" defTabSz="750888">
              <a:defRPr sz="3200">
                <a:solidFill>
                  <a:schemeClr val="tx1"/>
                </a:solidFill>
                <a:latin typeface="Times New Roman" panose="02020603050405020304" pitchFamily="18" charset="0"/>
                <a:cs typeface="Arial" panose="020B0604020202020204" pitchFamily="34" charset="0"/>
              </a:defRPr>
            </a:lvl3pPr>
            <a:lvl4pPr marL="1600200" indent="-228600" defTabSz="750888">
              <a:defRPr sz="3200">
                <a:solidFill>
                  <a:schemeClr val="tx1"/>
                </a:solidFill>
                <a:latin typeface="Times New Roman" panose="02020603050405020304" pitchFamily="18" charset="0"/>
                <a:cs typeface="Arial" panose="020B0604020202020204" pitchFamily="34" charset="0"/>
              </a:defRPr>
            </a:lvl4pPr>
            <a:lvl5pPr marL="2057400" indent="-228600" defTabSz="750888">
              <a:defRPr sz="3200">
                <a:solidFill>
                  <a:schemeClr val="tx1"/>
                </a:solidFill>
                <a:latin typeface="Times New Roman" panose="02020603050405020304" pitchFamily="18" charset="0"/>
                <a:cs typeface="Arial" panose="020B0604020202020204" pitchFamily="34" charset="0"/>
              </a:defRPr>
            </a:lvl5pPr>
            <a:lvl6pPr marL="2514600" indent="-228600" defTabSz="750888"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defTabSz="750888"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defTabSz="750888"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defTabSz="750888"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algn="r"/>
            <a:r>
              <a:rPr lang="en-GB" altLang="en-US" sz="1000" i="1">
                <a:cs typeface="Times New Roman" panose="02020603050405020304" pitchFamily="18" charset="0"/>
              </a:rPr>
              <a:t>7</a:t>
            </a:r>
          </a:p>
        </p:txBody>
      </p:sp>
      <p:sp>
        <p:nvSpPr>
          <p:cNvPr id="21509" name="Rectangle 4">
            <a:extLst>
              <a:ext uri="{FF2B5EF4-FFF2-40B4-BE49-F238E27FC236}">
                <a16:creationId xmlns:a16="http://schemas.microsoft.com/office/drawing/2014/main" id="{DB7A31B3-4FDA-EC61-C511-2BA94DC74C61}"/>
              </a:ext>
            </a:extLst>
          </p:cNvPr>
          <p:cNvSpPr>
            <a:spLocks noChangeArrowheads="1"/>
          </p:cNvSpPr>
          <p:nvPr/>
        </p:nvSpPr>
        <p:spPr bwMode="auto">
          <a:xfrm>
            <a:off x="0" y="8704263"/>
            <a:ext cx="29718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eaLnBrk="1" hangingPunct="1"/>
            <a:endParaRPr lang="en-IN" altLang="en-US"/>
          </a:p>
        </p:txBody>
      </p:sp>
      <p:sp>
        <p:nvSpPr>
          <p:cNvPr id="21510" name="Rectangle 5">
            <a:extLst>
              <a:ext uri="{FF2B5EF4-FFF2-40B4-BE49-F238E27FC236}">
                <a16:creationId xmlns:a16="http://schemas.microsoft.com/office/drawing/2014/main" id="{C9299DE4-E0FA-154C-A014-DC658D3CA0E4}"/>
              </a:ext>
            </a:extLst>
          </p:cNvPr>
          <p:cNvSpPr>
            <a:spLocks noChangeArrowheads="1"/>
          </p:cNvSpPr>
          <p:nvPr/>
        </p:nvSpPr>
        <p:spPr bwMode="auto">
          <a:xfrm>
            <a:off x="0" y="7938"/>
            <a:ext cx="29718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eaLnBrk="1" hangingPunct="1"/>
            <a:endParaRPr lang="en-IN" altLang="en-US"/>
          </a:p>
        </p:txBody>
      </p:sp>
      <p:sp>
        <p:nvSpPr>
          <p:cNvPr id="21511" name="Rectangle 6">
            <a:extLst>
              <a:ext uri="{FF2B5EF4-FFF2-40B4-BE49-F238E27FC236}">
                <a16:creationId xmlns:a16="http://schemas.microsoft.com/office/drawing/2014/main" id="{A822F9F7-02B7-BB8E-C704-49786CCA72E0}"/>
              </a:ext>
            </a:extLst>
          </p:cNvPr>
          <p:cNvSpPr>
            <a:spLocks noGrp="1" noChangeArrowheads="1"/>
          </p:cNvSpPr>
          <p:nvPr>
            <p:ph type="body" idx="1"/>
          </p:nvPr>
        </p:nvSpPr>
        <p:spPr>
          <a:xfrm>
            <a:off x="912813" y="4594225"/>
            <a:ext cx="5030787" cy="38036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9076" tIns="43757" rIns="89076" bIns="43757"/>
          <a:lstStyle/>
          <a:p>
            <a:pPr marL="228600" indent="-228600" eaLnBrk="1" hangingPunct="1">
              <a:buFontTx/>
              <a:buAutoNum type="arabicPeriod"/>
            </a:pPr>
            <a:r>
              <a:rPr lang="en-US" altLang="en-US"/>
              <a:t>The concentration index provides a summary measure of the magnitude of socioeconomic-related inequality in a health variable of interest.</a:t>
            </a:r>
          </a:p>
          <a:p>
            <a:pPr marL="228600" indent="-228600" eaLnBrk="1" hangingPunct="1">
              <a:buFontTx/>
              <a:buAutoNum type="arabicPeriod"/>
            </a:pPr>
            <a:r>
              <a:rPr lang="en-US" altLang="en-US"/>
              <a:t>Comparing a set of numbers can give a clearer ranking when trying to compare inequality across a number of countries, regions or time periods. But must acknowledge that the index loses information relative to the concentration curve. It summarises the distribution in one number of so does not indicate at what points in the distribution there are departures from proportionality. The concentration index should be used in tandem with the concentration curve.</a:t>
            </a:r>
          </a:p>
        </p:txBody>
      </p:sp>
      <p:sp>
        <p:nvSpPr>
          <p:cNvPr id="21512" name="Rectangle 7">
            <a:extLst>
              <a:ext uri="{FF2B5EF4-FFF2-40B4-BE49-F238E27FC236}">
                <a16:creationId xmlns:a16="http://schemas.microsoft.com/office/drawing/2014/main" id="{864FAA33-6E0D-8E35-4E37-C8FDD493F2D7}"/>
              </a:ext>
            </a:extLst>
          </p:cNvPr>
          <p:cNvSpPr>
            <a:spLocks noGrp="1" noRot="1" noChangeAspect="1" noChangeArrowheads="1" noTextEdit="1"/>
          </p:cNvSpPr>
          <p:nvPr>
            <p:ph type="sldImg"/>
          </p:nvPr>
        </p:nvSpPr>
        <p:spPr>
          <a:xfrm>
            <a:off x="1392238" y="792163"/>
            <a:ext cx="4286250" cy="3214687"/>
          </a:xfrm>
          <a:ln w="12700" cap="flat">
            <a:solidFill>
              <a:schemeClr val="tx1"/>
            </a:solid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B2F817A-2D8A-436D-92CB-380D5C8C17B8}" type="slidenum">
              <a:rPr lang="en-IN" smtClean="0"/>
              <a:t>16</a:t>
            </a:fld>
            <a:endParaRPr lang="en-IN"/>
          </a:p>
        </p:txBody>
      </p:sp>
    </p:spTree>
    <p:extLst>
      <p:ext uri="{BB962C8B-B14F-4D97-AF65-F5344CB8AC3E}">
        <p14:creationId xmlns:p14="http://schemas.microsoft.com/office/powerpoint/2010/main" val="3864705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0DAD852C-E4E4-0705-4126-E878ABDAF329}"/>
              </a:ext>
            </a:extLst>
          </p:cNvPr>
          <p:cNvSpPr>
            <a:spLocks noGrp="1" noRot="1" noChangeAspect="1" noChangeArrowheads="1" noTextEdit="1"/>
          </p:cNvSpPr>
          <p:nvPr>
            <p:ph type="sldImg"/>
          </p:nvPr>
        </p:nvSpPr>
        <p:spPr>
          <a:ln/>
        </p:spPr>
      </p:sp>
      <p:sp>
        <p:nvSpPr>
          <p:cNvPr id="7171" name="Notes Placeholder 2">
            <a:extLst>
              <a:ext uri="{FF2B5EF4-FFF2-40B4-BE49-F238E27FC236}">
                <a16:creationId xmlns:a16="http://schemas.microsoft.com/office/drawing/2014/main" id="{5E5C8CC3-AC05-4810-9A55-A5BA25C49E2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ea typeface="ＭＳ Ｐゴシック" panose="020B0600070205080204" pitchFamily="34" charset="-128"/>
              </a:rPr>
              <a:t>1.Additional references: </a:t>
            </a:r>
            <a:r>
              <a:rPr lang="en-US" altLang="en-US">
                <a:latin typeface="Arial" panose="020B0604020202020204" pitchFamily="34" charset="0"/>
                <a:ea typeface="ＭＳ Ｐゴシック" panose="020B0600070205080204" pitchFamily="34" charset="-128"/>
                <a:cs typeface="Arial" panose="020B0604020202020204" pitchFamily="34" charset="0"/>
              </a:rPr>
              <a:t>Amartya Sen (1973) </a:t>
            </a:r>
            <a:r>
              <a:rPr lang="en-US" altLang="en-US">
                <a:solidFill>
                  <a:srgbClr val="FF0000"/>
                </a:solidFill>
                <a:latin typeface="Arial" panose="020B0604020202020204" pitchFamily="34" charset="0"/>
                <a:ea typeface="ＭＳ Ｐゴシック" panose="020B0600070205080204" pitchFamily="34" charset="-128"/>
                <a:cs typeface="Arial" panose="020B0604020202020204" pitchFamily="34" charset="0"/>
              </a:rPr>
              <a:t>On Economic Inequality </a:t>
            </a:r>
            <a:r>
              <a:rPr lang="en-US" altLang="en-US">
                <a:latin typeface="Arial" panose="020B0604020202020204" pitchFamily="34" charset="0"/>
                <a:ea typeface="ＭＳ Ｐゴシック" panose="020B0600070205080204" pitchFamily="34" charset="-128"/>
                <a:cs typeface="Arial" panose="020B0604020202020204" pitchFamily="34" charset="0"/>
              </a:rPr>
              <a:t>(Expanded Edition with a substantial annexe by James E. Foster 1997)</a:t>
            </a:r>
          </a:p>
          <a:p>
            <a:endParaRPr lang="en-US" altLang="en-US">
              <a:latin typeface="Calibri" panose="020F0502020204030204" pitchFamily="34" charset="0"/>
              <a:ea typeface="ＭＳ Ｐゴシック" panose="020B0600070205080204" pitchFamily="34" charset="-128"/>
            </a:endParaRPr>
          </a:p>
        </p:txBody>
      </p:sp>
      <p:sp>
        <p:nvSpPr>
          <p:cNvPr id="7172" name="Slide Number Placeholder 3">
            <a:extLst>
              <a:ext uri="{FF2B5EF4-FFF2-40B4-BE49-F238E27FC236}">
                <a16:creationId xmlns:a16="http://schemas.microsoft.com/office/drawing/2014/main" id="{08D4DCFD-FAE8-F880-5224-8AD8F0C4332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F16437F-7957-4A34-B3F1-4C4B158037E3}" type="slidenum">
              <a:rPr lang="en-US" altLang="en-US">
                <a:cs typeface="Arial" panose="020B0604020202020204" pitchFamily="34" charset="0"/>
              </a:rPr>
              <a:pPr eaLnBrk="1" hangingPunct="1"/>
              <a:t>21</a:t>
            </a:fld>
            <a:endParaRPr lang="en-US" altLang="en-US">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0C74DA6-DEE5-148E-9D58-2C072B07D33E}"/>
              </a:ext>
            </a:extLst>
          </p:cNvPr>
          <p:cNvSpPr>
            <a:spLocks noGrp="1" noChangeArrowheads="1"/>
          </p:cNvSpPr>
          <p:nvPr>
            <p:ph type="sldNum" sz="quarter" idx="5"/>
          </p:nvPr>
        </p:nvSpPr>
        <p:spPr>
          <a:ln/>
        </p:spPr>
        <p:txBody>
          <a:bodyPr/>
          <a:lstStyle/>
          <a:p>
            <a:fld id="{EE134ED1-CFC0-4AF3-8EF9-7AEA783110F5}" type="slidenum">
              <a:rPr lang="en-GB" altLang="en-US"/>
              <a:pPr/>
              <a:t>24</a:t>
            </a:fld>
            <a:endParaRPr lang="en-GB" altLang="en-US"/>
          </a:p>
        </p:txBody>
      </p:sp>
      <p:sp>
        <p:nvSpPr>
          <p:cNvPr id="580610" name="Rectangle 2">
            <a:extLst>
              <a:ext uri="{FF2B5EF4-FFF2-40B4-BE49-F238E27FC236}">
                <a16:creationId xmlns:a16="http://schemas.microsoft.com/office/drawing/2014/main" id="{DC4E39C0-336B-52F6-34E8-DF801F40F729}"/>
              </a:ext>
            </a:extLst>
          </p:cNvPr>
          <p:cNvSpPr>
            <a:spLocks noGrp="1" noRot="1" noChangeAspect="1" noChangeArrowheads="1" noTextEdit="1"/>
          </p:cNvSpPr>
          <p:nvPr>
            <p:ph type="sldImg"/>
          </p:nvPr>
        </p:nvSpPr>
        <p:spPr>
          <a:ln/>
        </p:spPr>
      </p:sp>
      <p:sp>
        <p:nvSpPr>
          <p:cNvPr id="580611" name="Rectangle 3">
            <a:extLst>
              <a:ext uri="{FF2B5EF4-FFF2-40B4-BE49-F238E27FC236}">
                <a16:creationId xmlns:a16="http://schemas.microsoft.com/office/drawing/2014/main" id="{CD904B46-0052-6411-D121-06B527EA0268}"/>
              </a:ext>
            </a:extLst>
          </p:cNvPr>
          <p:cNvSpPr>
            <a:spLocks noGrp="1" noChangeArrowheads="1"/>
          </p:cNvSpPr>
          <p:nvPr>
            <p:ph type="body" idx="1"/>
          </p:nvPr>
        </p:nvSpPr>
        <p:spPr/>
        <p:txBody>
          <a:bodyPr/>
          <a:lstStyle/>
          <a:p>
            <a:pPr marL="228600" indent="-228600">
              <a:lnSpc>
                <a:spcPct val="90000"/>
              </a:lnSpc>
              <a:buFontTx/>
              <a:buAutoNum type="arabicPeriod"/>
            </a:pPr>
            <a:r>
              <a:rPr lang="en-US" altLang="en-US"/>
              <a:t>A ratio scale has a true zero, allowing statements such as “A has twice as much X as B.” That makes sense for dollars or height. But many aspects of health cannot be measured in this way. </a:t>
            </a:r>
          </a:p>
          <a:p>
            <a:pPr marL="228600" indent="-228600">
              <a:lnSpc>
                <a:spcPct val="90000"/>
              </a:lnSpc>
              <a:buFontTx/>
              <a:buAutoNum type="arabicPeriod"/>
            </a:pPr>
            <a:r>
              <a:rPr lang="en-US" altLang="en-US"/>
              <a:t>The concentration index is invariant to multiplication of the health sector variable of interest by any scalar (Kakwani 1980). So, for example, if we are measuring inequality in payments for health care, it does not matter whether payments are measured in local currency or in dollars; the concentration index will be the same. Similarly, it does not matter whether health care is analyzed in terms of utilization per month or if monthly data are multiplied by 12 to give yearly figures. </a:t>
            </a:r>
          </a:p>
          <a:p>
            <a:pPr marL="228600" indent="-228600">
              <a:lnSpc>
                <a:spcPct val="90000"/>
              </a:lnSpc>
              <a:buFontTx/>
              <a:buAutoNum type="arabicPeriod"/>
            </a:pPr>
            <a:r>
              <a:rPr lang="en-US" altLang="en-US"/>
              <a:t>Measurement of health inequality often relies on self-reported indicators of health, such as those considered in chapter 5. A concentration index cannot be computed directly from such categorical data. Although the ordinal data can be transformed into some cardinal measure and a concentration index computed for this (van Doorslaer and Jones 2003; Wagstaff and van Doorslaer 1994), the value of the index will depend on the transformation chosen (Erreygers 2006).In cross-country comparisons, even if all countries adopt the same transformation, their ranking by the concentration index could be sensitive to differences in the means of health that are used in the transformation.</a:t>
            </a:r>
            <a:r>
              <a:rPr lang="en-GB" altLang="en-US"/>
              <a:t> </a:t>
            </a:r>
          </a:p>
          <a:p>
            <a:pPr marL="228600" indent="-228600">
              <a:lnSpc>
                <a:spcPct val="90000"/>
              </a:lnSpc>
              <a:buFontTx/>
              <a:buAutoNum type="arabicPeriod"/>
            </a:pPr>
            <a:r>
              <a:rPr lang="en-GB" altLang="en-US"/>
              <a:t>The bounds given in the case of a dichotomous measure hold for large samples.</a:t>
            </a: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595F4A5-95DB-A33A-1530-BB4B72468C9E}"/>
              </a:ext>
            </a:extLst>
          </p:cNvPr>
          <p:cNvSpPr>
            <a:spLocks noGrp="1" noChangeArrowheads="1"/>
          </p:cNvSpPr>
          <p:nvPr>
            <p:ph type="sldNum" sz="quarter" idx="5"/>
          </p:nvPr>
        </p:nvSpPr>
        <p:spPr>
          <a:ln/>
        </p:spPr>
        <p:txBody>
          <a:bodyPr/>
          <a:lstStyle/>
          <a:p>
            <a:fld id="{BAA8AA67-DC94-4E0C-884B-12B1E1FAFCB6}" type="slidenum">
              <a:rPr lang="en-GB" altLang="en-US"/>
              <a:pPr/>
              <a:t>29</a:t>
            </a:fld>
            <a:endParaRPr lang="en-GB" altLang="en-US"/>
          </a:p>
        </p:txBody>
      </p:sp>
      <p:sp>
        <p:nvSpPr>
          <p:cNvPr id="571394" name="Rectangle 2">
            <a:extLst>
              <a:ext uri="{FF2B5EF4-FFF2-40B4-BE49-F238E27FC236}">
                <a16:creationId xmlns:a16="http://schemas.microsoft.com/office/drawing/2014/main" id="{7B4F5C07-0A2F-C1E8-19B7-8358481F513A}"/>
              </a:ext>
            </a:extLst>
          </p:cNvPr>
          <p:cNvSpPr>
            <a:spLocks noGrp="1" noRot="1" noChangeAspect="1" noChangeArrowheads="1" noTextEdit="1"/>
          </p:cNvSpPr>
          <p:nvPr>
            <p:ph type="sldImg"/>
          </p:nvPr>
        </p:nvSpPr>
        <p:spPr>
          <a:ln/>
        </p:spPr>
      </p:sp>
      <p:sp>
        <p:nvSpPr>
          <p:cNvPr id="571395" name="Rectangle 3">
            <a:extLst>
              <a:ext uri="{FF2B5EF4-FFF2-40B4-BE49-F238E27FC236}">
                <a16:creationId xmlns:a16="http://schemas.microsoft.com/office/drawing/2014/main" id="{02BAB5A7-BF14-91E9-895C-893AC67FAAEB}"/>
              </a:ext>
            </a:extLst>
          </p:cNvPr>
          <p:cNvSpPr>
            <a:spLocks noGrp="1" noChangeArrowheads="1"/>
          </p:cNvSpPr>
          <p:nvPr>
            <p:ph type="body" idx="1"/>
          </p:nvPr>
        </p:nvSpPr>
        <p:spPr/>
        <p:txBody>
          <a:bodyPr/>
          <a:lstStyle/>
          <a:p>
            <a:pPr marL="228600" indent="-228600">
              <a:buFontTx/>
              <a:buAutoNum type="arabicPeriod"/>
            </a:pPr>
            <a:r>
              <a:rPr lang="en-US" altLang="en-US"/>
              <a:t>The Lorenz curve for income describes the income distribution. It plots the cumulative proportion of income against the cumulative proportion of the population ranked by income.</a:t>
            </a:r>
          </a:p>
          <a:p>
            <a:pPr marL="228600" indent="-228600">
              <a:buFontTx/>
              <a:buAutoNum type="arabicPeriod"/>
            </a:pPr>
            <a:r>
              <a:rPr lang="en-US" altLang="en-US"/>
              <a:t>A plot of the cumulative proportion of health against the cumulative proportion of the population ranked by health is the health Lorenz curve. Since this runs from the least to the most healthy person, the proportion of health accounted for by the least healthy 10% is necessarily less the proportion of health accounted for by the poorest 10% (unless health and income are perfectly positively correlated).</a:t>
            </a:r>
          </a:p>
          <a:p>
            <a:pPr marL="228600" indent="-228600">
              <a:buFontTx/>
              <a:buAutoNum type="arabicPeriod"/>
            </a:pPr>
            <a:r>
              <a:rPr lang="en-US" altLang="en-US"/>
              <a:t>But for many health variables available from survey data, which are categorical, the health Lorenz curve would not be very interesting since there are relatively few values of health by which to rank. For anthropometric indicators it would be interesting. </a:t>
            </a:r>
          </a:p>
          <a:p>
            <a:pPr marL="228600" indent="-228600">
              <a:buFontTx/>
              <a:buAutoNum type="arabicPeriod"/>
            </a:pP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36F53E0-DE80-4ECC-C8EC-CD0376768439}"/>
              </a:ext>
            </a:extLst>
          </p:cNvPr>
          <p:cNvSpPr>
            <a:spLocks noGrp="1" noChangeArrowheads="1"/>
          </p:cNvSpPr>
          <p:nvPr>
            <p:ph type="sldNum" sz="quarter" idx="5"/>
          </p:nvPr>
        </p:nvSpPr>
        <p:spPr>
          <a:ln/>
        </p:spPr>
        <p:txBody>
          <a:bodyPr/>
          <a:lstStyle/>
          <a:p>
            <a:fld id="{99635EC7-C6FA-4FB7-B9F9-1DCBC32E80D7}" type="slidenum">
              <a:rPr lang="en-GB" altLang="en-US"/>
              <a:pPr/>
              <a:t>34</a:t>
            </a:fld>
            <a:endParaRPr lang="en-GB" altLang="en-US"/>
          </a:p>
        </p:txBody>
      </p:sp>
      <p:sp>
        <p:nvSpPr>
          <p:cNvPr id="475138" name="Rectangle 2">
            <a:extLst>
              <a:ext uri="{FF2B5EF4-FFF2-40B4-BE49-F238E27FC236}">
                <a16:creationId xmlns:a16="http://schemas.microsoft.com/office/drawing/2014/main" id="{C9699450-A9BF-FB9B-8963-8486E24787CA}"/>
              </a:ext>
            </a:extLst>
          </p:cNvPr>
          <p:cNvSpPr>
            <a:spLocks noGrp="1" noRot="1" noChangeAspect="1" noChangeArrowheads="1" noTextEdit="1"/>
          </p:cNvSpPr>
          <p:nvPr>
            <p:ph type="sldImg"/>
          </p:nvPr>
        </p:nvSpPr>
        <p:spPr>
          <a:ln/>
        </p:spPr>
      </p:sp>
      <p:sp>
        <p:nvSpPr>
          <p:cNvPr id="475139" name="Rectangle 3">
            <a:extLst>
              <a:ext uri="{FF2B5EF4-FFF2-40B4-BE49-F238E27FC236}">
                <a16:creationId xmlns:a16="http://schemas.microsoft.com/office/drawing/2014/main" id="{3E7BAFE9-4B1A-58D3-14CE-72781910DD42}"/>
              </a:ext>
            </a:extLst>
          </p:cNvPr>
          <p:cNvSpPr>
            <a:spLocks noGrp="1" noChangeArrowheads="1"/>
          </p:cNvSpPr>
          <p:nvPr>
            <p:ph type="body" idx="1"/>
          </p:nvPr>
        </p:nvSpPr>
        <p:spPr/>
        <p:txBody>
          <a:bodyPr/>
          <a:lstStyle/>
          <a:p>
            <a:pPr marL="228600" indent="-228600">
              <a:buFontTx/>
              <a:buAutoNum type="arabicPeriod"/>
            </a:pPr>
            <a:r>
              <a:rPr lang="en-US" altLang="en-US"/>
              <a:t>For ease of exposition, we will refer to any health sector variable, such as health or health care use or payments, as “health” and to any (continuous/ordinal) measure of socioeconomic status as “income.” </a:t>
            </a:r>
          </a:p>
          <a:p>
            <a:pPr marL="228600" indent="-228600">
              <a:buFontTx/>
              <a:buAutoNum type="arabicPeriod"/>
            </a:pPr>
            <a:r>
              <a:rPr lang="en-US" altLang="en-US"/>
              <a:t>Wagstaff, van Doorslaer, and Watanabe (2003) demonstrate that the health concentration index can be decomposed into the contributions of individual factors to income-related health inequality, in which each contribution is the product of the sensitivity of heath with respect to that factor (the elasticity) and the degree of income-related inequality in that factor (the respective concentration index).</a:t>
            </a:r>
            <a:r>
              <a:rPr lang="en-GB" altLang="en-US"/>
              <a:t> </a:t>
            </a:r>
          </a:p>
          <a:p>
            <a:pPr marL="228600" indent="-228600">
              <a:buFontTx/>
              <a:buAutoNum type="arabicPeriod"/>
            </a:pPr>
            <a:r>
              <a:rPr lang="en-US" altLang="en-US"/>
              <a:t>That is, the concentration index for the health variable of interest, y, can be written as a weighted sum of the concentration indices of the </a:t>
            </a:r>
            <a:r>
              <a:rPr lang="en-US" altLang="en-US" i="1"/>
              <a:t>k</a:t>
            </a:r>
            <a:r>
              <a:rPr lang="en-US" altLang="en-US"/>
              <a:t> regressors, where the weight for </a:t>
            </a:r>
            <a:r>
              <a:rPr lang="en-US" altLang="en-US" i="1"/>
              <a:t>xk</a:t>
            </a:r>
            <a:r>
              <a:rPr lang="en-US" altLang="en-US"/>
              <a:t> is the elasticity of </a:t>
            </a:r>
            <a:r>
              <a:rPr lang="en-US" altLang="en-US" i="1"/>
              <a:t>y</a:t>
            </a:r>
            <a:r>
              <a:rPr lang="en-US" altLang="en-US"/>
              <a:t> with respect to </a:t>
            </a:r>
            <a:r>
              <a:rPr lang="en-US" altLang="en-US" i="1"/>
              <a:t>xk</a:t>
            </a:r>
            <a:r>
              <a:rPr lang="en-US" altLang="en-US"/>
              <a:t> .</a:t>
            </a:r>
          </a:p>
          <a:p>
            <a:pPr marL="228600" indent="-228600">
              <a:buFontTx/>
              <a:buAutoNum type="arabicPeriod"/>
            </a:pPr>
            <a:r>
              <a:rPr lang="en-US" altLang="en-US"/>
              <a:t>The residual component—captured by the last term—reflects the income-related inequality in health that is not explained by systematic variation in the regressors by income, which should approach zero for a well-specified model. </a:t>
            </a:r>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AndTx">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en-IN"/>
          </a:p>
        </p:txBody>
      </p:sp>
      <p:sp>
        <p:nvSpPr>
          <p:cNvPr id="3" name="Chart Placeholder 2"/>
          <p:cNvSpPr>
            <a:spLocks noGrp="1"/>
          </p:cNvSpPr>
          <p:nvPr>
            <p:ph type="chart" sz="half" idx="1"/>
          </p:nvPr>
        </p:nvSpPr>
        <p:spPr>
          <a:xfrm>
            <a:off x="685800" y="1981200"/>
            <a:ext cx="3810000" cy="4114800"/>
          </a:xfrm>
        </p:spPr>
        <p:txBody>
          <a:bodyPr/>
          <a:lstStyle/>
          <a:p>
            <a:pPr lvl="0"/>
            <a:endParaRPr lang="en-IN" noProof="0"/>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1A19205D-E07D-1E7E-1CB0-CC5C142FDC84}"/>
              </a:ext>
            </a:extLst>
          </p:cNvPr>
          <p:cNvSpPr>
            <a:spLocks noGrp="1"/>
          </p:cNvSpPr>
          <p:nvPr>
            <p:ph type="ftr" sz="quarter" idx="10"/>
          </p:nvPr>
        </p:nvSpPr>
        <p:spPr/>
        <p:txBody>
          <a:bodyPr/>
          <a:lstStyle>
            <a:lvl1pPr>
              <a:defRPr/>
            </a:lvl1pPr>
          </a:lstStyle>
          <a:p>
            <a:pPr>
              <a:defRPr/>
            </a:pPr>
            <a:r>
              <a:rPr lang="en-GB" altLang="en-US"/>
              <a:t>“Analyzing Health Equity Using Household Survey Data” Owen O’Donnell, Eddy van Doorslaer, Adam Wagstaff and Magnus Lindelow, The World Bank, Washington DC, 2008, www.worldbank.org/analyzinghealthequity</a:t>
            </a:r>
          </a:p>
        </p:txBody>
      </p:sp>
    </p:spTree>
    <p:extLst>
      <p:ext uri="{BB962C8B-B14F-4D97-AF65-F5344CB8AC3E}">
        <p14:creationId xmlns:p14="http://schemas.microsoft.com/office/powerpoint/2010/main" val="554270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ideas.repec.org/a/eee/socmed/v33y1991i5p545-557.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www.worldbank.org/analyzinghealthequity" TargetMode="External"/><Relationship Id="rId4" Type="http://schemas.openxmlformats.org/officeDocument/2006/relationships/hyperlink" Target="http://ideas.repec.org/s/eee/socmed.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oleObject" Target="../embeddings/oleObject4.bin"/><Relationship Id="rId4" Type="http://schemas.openxmlformats.org/officeDocument/2006/relationships/image" Target="../media/image10.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491" y="1382282"/>
            <a:ext cx="8395854" cy="2621682"/>
          </a:xfrm>
        </p:spPr>
        <p:txBody>
          <a:bodyPr>
            <a:normAutofit/>
          </a:bodyPr>
          <a:lstStyle/>
          <a:p>
            <a:r>
              <a:rPr lang="en-IN" b="1" dirty="0">
                <a:latin typeface="Times New Roman"/>
              </a:rPr>
              <a:t>Estimation of </a:t>
            </a:r>
            <a:r>
              <a:rPr b="1" dirty="0">
                <a:latin typeface="Times New Roman"/>
              </a:rPr>
              <a:t>Concentration </a:t>
            </a:r>
            <a:r>
              <a:rPr lang="en-IN" b="1" dirty="0">
                <a:latin typeface="Times New Roman"/>
              </a:rPr>
              <a:t>Index (CI), </a:t>
            </a:r>
            <a:r>
              <a:rPr b="1" dirty="0">
                <a:latin typeface="Times New Roman"/>
              </a:rPr>
              <a:t>Concentration </a:t>
            </a:r>
            <a:r>
              <a:rPr lang="en-IN" b="1" dirty="0">
                <a:latin typeface="Times New Roman"/>
              </a:rPr>
              <a:t>Curve &amp;</a:t>
            </a:r>
            <a:br>
              <a:rPr lang="en-IN" b="1" dirty="0">
                <a:latin typeface="Times New Roman"/>
              </a:rPr>
            </a:br>
            <a:r>
              <a:rPr lang="en-IN" b="1" dirty="0">
                <a:latin typeface="Times New Roman"/>
              </a:rPr>
              <a:t>Decomposition of CI</a:t>
            </a:r>
            <a:endParaRPr b="1" dirty="0">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354291" cy="958417"/>
          </a:xfrm>
        </p:spPr>
        <p:txBody>
          <a:bodyPr/>
          <a:lstStyle/>
          <a:p>
            <a:r>
              <a:rPr b="1" dirty="0">
                <a:latin typeface="Times New Roman"/>
              </a:rPr>
              <a:t>Learning Objectives</a:t>
            </a:r>
          </a:p>
        </p:txBody>
      </p:sp>
      <p:sp>
        <p:nvSpPr>
          <p:cNvPr id="3" name="Content Placeholder 2"/>
          <p:cNvSpPr>
            <a:spLocks noGrp="1"/>
          </p:cNvSpPr>
          <p:nvPr>
            <p:ph idx="1"/>
          </p:nvPr>
        </p:nvSpPr>
        <p:spPr>
          <a:xfrm>
            <a:off x="457200" y="1417637"/>
            <a:ext cx="8514413" cy="5165725"/>
          </a:xfrm>
        </p:spPr>
        <p:txBody>
          <a:bodyPr>
            <a:normAutofit/>
          </a:bodyPr>
          <a:lstStyle/>
          <a:p>
            <a:pPr>
              <a:defRPr sz="2000"/>
            </a:pPr>
            <a:r>
              <a:rPr lang="en-US" sz="2600" dirty="0"/>
              <a:t>Understand the concentration curve and the concentration index as measures of socioeconomic inequality.</a:t>
            </a:r>
          </a:p>
          <a:p>
            <a:pPr>
              <a:defRPr sz="2000"/>
            </a:pPr>
            <a:r>
              <a:rPr lang="en-US" sz="2600" dirty="0"/>
              <a:t>Estimation of CI by different methods.</a:t>
            </a:r>
          </a:p>
          <a:p>
            <a:pPr>
              <a:defRPr sz="2000"/>
            </a:pPr>
            <a:r>
              <a:rPr lang="en-US" sz="2600" dirty="0"/>
              <a:t>Handle binary outcomes: bounds, Wagstaff normalization, </a:t>
            </a:r>
            <a:r>
              <a:rPr lang="en-US" sz="2600" dirty="0" err="1"/>
              <a:t>Erreygers</a:t>
            </a:r>
            <a:r>
              <a:rPr lang="en-US" sz="2600" dirty="0"/>
              <a:t> index.</a:t>
            </a:r>
          </a:p>
          <a:p>
            <a:pPr>
              <a:defRPr sz="2000"/>
            </a:pPr>
            <a:r>
              <a:rPr lang="en-US" sz="2600" dirty="0"/>
              <a:t>Demographic standardization of CI.</a:t>
            </a:r>
          </a:p>
          <a:p>
            <a:pPr>
              <a:defRPr sz="2000"/>
            </a:pPr>
            <a:r>
              <a:rPr lang="en-US" sz="2600" dirty="0"/>
              <a:t>Decomposition of CI (Wagstaff decomposition).</a:t>
            </a:r>
          </a:p>
          <a:p>
            <a:pPr>
              <a:defRPr sz="2000"/>
            </a:pPr>
            <a:r>
              <a:rPr lang="en-US" sz="2600" dirty="0"/>
              <a:t>Practical example using STATA.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064791"/>
            <a:ext cx="7772400" cy="1362075"/>
          </a:xfrm>
        </p:spPr>
        <p:txBody>
          <a:bodyPr>
            <a:normAutofit/>
          </a:bodyPr>
          <a:lstStyle/>
          <a:p>
            <a:pPr algn="ctr"/>
            <a:r>
              <a:rPr sz="3600" dirty="0">
                <a:latin typeface="Times New Roman"/>
              </a:rPr>
              <a:t>Concepts</a:t>
            </a:r>
          </a:p>
        </p:txBody>
      </p:sp>
      <p:sp>
        <p:nvSpPr>
          <p:cNvPr id="3" name="Text Placeholder 2"/>
          <p:cNvSpPr>
            <a:spLocks noGrp="1"/>
          </p:cNvSpPr>
          <p:nvPr>
            <p:ph type="body" idx="1"/>
          </p:nvPr>
        </p:nvSpPr>
        <p:spPr>
          <a:xfrm>
            <a:off x="685800" y="2906713"/>
            <a:ext cx="7772400" cy="520153"/>
          </a:xfrm>
        </p:spPr>
        <p:txBody>
          <a:bodyPr>
            <a:normAutofit/>
          </a:bodyPr>
          <a:lstStyle/>
          <a:p>
            <a:pPr algn="ctr"/>
            <a:r>
              <a:rPr sz="2400" dirty="0">
                <a:solidFill>
                  <a:schemeClr val="tx1"/>
                </a:solidFill>
                <a:latin typeface="Times New Roman"/>
              </a:rPr>
              <a:t>Concentration curve and the CI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B1BC9A78-EAF7-8133-019F-B07ECEB50E05}"/>
              </a:ext>
            </a:extLst>
          </p:cNvPr>
          <p:cNvSpPr>
            <a:spLocks noGrp="1" noChangeArrowheads="1"/>
          </p:cNvSpPr>
          <p:nvPr>
            <p:ph type="title"/>
          </p:nvPr>
        </p:nvSpPr>
        <p:spPr>
          <a:xfrm>
            <a:off x="555704" y="939609"/>
            <a:ext cx="8063640" cy="1600200"/>
          </a:xfrm>
        </p:spPr>
        <p:txBody>
          <a:bodyPr>
            <a:normAutofit fontScale="90000"/>
          </a:bodyPr>
          <a:lstStyle/>
          <a:p>
            <a:pPr marL="457200" indent="-457200" algn="l" eaLnBrk="1" hangingPunct="1">
              <a:buFont typeface="Arial" panose="020B0604020202020204" pitchFamily="34" charset="0"/>
              <a:buChar char="•"/>
            </a:pPr>
            <a:r>
              <a:rPr lang="en-US" altLang="en-US" sz="2800" dirty="0"/>
              <a:t>In general, a concentration curve plots the cumulative % of the health variable against the cumulative % of the population ranked by socioeconomic status.</a:t>
            </a:r>
          </a:p>
        </p:txBody>
      </p:sp>
      <p:sp>
        <p:nvSpPr>
          <p:cNvPr id="24580" name="Rectangle 3">
            <a:extLst>
              <a:ext uri="{FF2B5EF4-FFF2-40B4-BE49-F238E27FC236}">
                <a16:creationId xmlns:a16="http://schemas.microsoft.com/office/drawing/2014/main" id="{AA5BD167-C8D7-1DD4-A066-C977B871DEE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eaLnBrk="1" hangingPunct="1"/>
            <a:endParaRPr lang="en-IN" altLang="en-US"/>
          </a:p>
        </p:txBody>
      </p:sp>
      <p:graphicFrame>
        <p:nvGraphicFramePr>
          <p:cNvPr id="24581" name="Object 4">
            <a:extLst>
              <a:ext uri="{FF2B5EF4-FFF2-40B4-BE49-F238E27FC236}">
                <a16:creationId xmlns:a16="http://schemas.microsoft.com/office/drawing/2014/main" id="{19B9D4A0-0E4F-217D-8746-F3CB59D104B6}"/>
              </a:ext>
            </a:extLst>
          </p:cNvPr>
          <p:cNvGraphicFramePr>
            <a:graphicFrameLocks noChangeAspect="1"/>
          </p:cNvGraphicFramePr>
          <p:nvPr>
            <p:extLst>
              <p:ext uri="{D42A27DB-BD31-4B8C-83A1-F6EECF244321}">
                <p14:modId xmlns:p14="http://schemas.microsoft.com/office/powerpoint/2010/main" val="1081195531"/>
              </p:ext>
            </p:extLst>
          </p:nvPr>
        </p:nvGraphicFramePr>
        <p:xfrm>
          <a:off x="130175" y="2398425"/>
          <a:ext cx="4897438" cy="4107305"/>
        </p:xfrm>
        <a:graphic>
          <a:graphicData uri="http://schemas.openxmlformats.org/presentationml/2006/ole">
            <mc:AlternateContent xmlns:mc="http://schemas.openxmlformats.org/markup-compatibility/2006">
              <mc:Choice xmlns:v="urn:schemas-microsoft-com:vml" Requires="v">
                <p:oleObj name="Microsoft Drawing 1.01" r:id="rId3" imgW="3016250" imgH="2773363" progId="MSDraw.1.01">
                  <p:embed/>
                </p:oleObj>
              </mc:Choice>
              <mc:Fallback>
                <p:oleObj name="Microsoft Drawing 1.01" r:id="rId3" imgW="3016250" imgH="2773363" progId="MSDraw.1.01">
                  <p:embed/>
                  <p:pic>
                    <p:nvPicPr>
                      <p:cNvPr id="24581" name="Object 4">
                        <a:extLst>
                          <a:ext uri="{FF2B5EF4-FFF2-40B4-BE49-F238E27FC236}">
                            <a16:creationId xmlns:a16="http://schemas.microsoft.com/office/drawing/2014/main" id="{19B9D4A0-0E4F-217D-8746-F3CB59D104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175" y="2398425"/>
                        <a:ext cx="4897438" cy="4107305"/>
                      </a:xfrm>
                      <a:prstGeom prst="rect">
                        <a:avLst/>
                      </a:prstGeom>
                      <a:noFill/>
                      <a:ln>
                        <a:noFill/>
                      </a:ln>
                    </p:spPr>
                  </p:pic>
                </p:oleObj>
              </mc:Fallback>
            </mc:AlternateContent>
          </a:graphicData>
        </a:graphic>
      </p:graphicFrame>
      <p:sp>
        <p:nvSpPr>
          <p:cNvPr id="24582" name="Text Box 5">
            <a:extLst>
              <a:ext uri="{FF2B5EF4-FFF2-40B4-BE49-F238E27FC236}">
                <a16:creationId xmlns:a16="http://schemas.microsoft.com/office/drawing/2014/main" id="{5F4454A0-C3F2-67AB-B8FC-FA776809126F}"/>
              </a:ext>
            </a:extLst>
          </p:cNvPr>
          <p:cNvSpPr txBox="1">
            <a:spLocks noChangeArrowheads="1"/>
          </p:cNvSpPr>
          <p:nvPr/>
        </p:nvSpPr>
        <p:spPr bwMode="auto">
          <a:xfrm>
            <a:off x="4919767" y="2979364"/>
            <a:ext cx="422423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400" dirty="0"/>
              <a:t>Curve above the diagonal </a:t>
            </a:r>
            <a:r>
              <a:rPr lang="en-US" altLang="en-US" sz="2400" dirty="0">
                <a:sym typeface="Wingdings" panose="05000000000000000000" pitchFamily="2" charset="2"/>
              </a:rPr>
              <a:t></a:t>
            </a:r>
          </a:p>
          <a:p>
            <a:pPr eaLnBrk="1" hangingPunct="1"/>
            <a:r>
              <a:rPr lang="en-US" altLang="en-US" sz="2400" dirty="0"/>
              <a:t>concentration among the poor</a:t>
            </a:r>
          </a:p>
          <a:p>
            <a:pPr eaLnBrk="1" hangingPunct="1"/>
            <a:endParaRPr lang="en-US" altLang="en-US" sz="2400" dirty="0"/>
          </a:p>
          <a:p>
            <a:pPr eaLnBrk="1" hangingPunct="1"/>
            <a:r>
              <a:rPr lang="en-US" altLang="en-US" sz="2400" dirty="0"/>
              <a:t>Curve below the diagonal </a:t>
            </a:r>
            <a:r>
              <a:rPr lang="en-US" altLang="en-US" sz="2400" dirty="0">
                <a:sym typeface="Wingdings" panose="05000000000000000000" pitchFamily="2" charset="2"/>
              </a:rPr>
              <a:t></a:t>
            </a:r>
            <a:r>
              <a:rPr lang="en-US" altLang="en-US" sz="2400" dirty="0"/>
              <a:t> </a:t>
            </a:r>
          </a:p>
          <a:p>
            <a:pPr eaLnBrk="1" hangingPunct="1"/>
            <a:r>
              <a:rPr lang="en-US" altLang="en-US" sz="2400" dirty="0"/>
              <a:t>concentration among the rich</a:t>
            </a:r>
          </a:p>
          <a:p>
            <a:pPr eaLnBrk="1" hangingPunct="1"/>
            <a:endParaRPr lang="en-US" altLang="en-US" sz="2400" dirty="0"/>
          </a:p>
          <a:p>
            <a:pPr eaLnBrk="1" hangingPunct="1"/>
            <a:r>
              <a:rPr lang="en-US" altLang="en-US" sz="2400" dirty="0"/>
              <a:t>Curve on the diagonal = equality</a:t>
            </a:r>
          </a:p>
        </p:txBody>
      </p:sp>
      <p:sp>
        <p:nvSpPr>
          <p:cNvPr id="2" name="Title 1">
            <a:extLst>
              <a:ext uri="{FF2B5EF4-FFF2-40B4-BE49-F238E27FC236}">
                <a16:creationId xmlns:a16="http://schemas.microsoft.com/office/drawing/2014/main" id="{A0FD0B3B-41D1-4651-B194-F349C6D5659A}"/>
              </a:ext>
            </a:extLst>
          </p:cNvPr>
          <p:cNvSpPr txBox="1">
            <a:spLocks/>
          </p:cNvSpPr>
          <p:nvPr/>
        </p:nvSpPr>
        <p:spPr>
          <a:xfrm>
            <a:off x="524656" y="224305"/>
            <a:ext cx="8229600" cy="715304"/>
          </a:xfrm>
          <a:prstGeom prst="rect">
            <a:avLst/>
          </a:prstGeom>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b="1" dirty="0">
                <a:latin typeface="Times New Roman"/>
              </a:rPr>
              <a:t>Concentration Curve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E8140527-E139-09EB-6256-99C09996213D}"/>
              </a:ext>
            </a:extLst>
          </p:cNvPr>
          <p:cNvSpPr>
            <a:spLocks noGrp="1" noChangeArrowheads="1"/>
          </p:cNvSpPr>
          <p:nvPr>
            <p:ph type="title"/>
          </p:nvPr>
        </p:nvSpPr>
        <p:spPr>
          <a:xfrm>
            <a:off x="717550" y="182563"/>
            <a:ext cx="7772400" cy="1143000"/>
          </a:xfrm>
        </p:spPr>
        <p:txBody>
          <a:bodyPr>
            <a:normAutofit fontScale="90000"/>
          </a:bodyPr>
          <a:lstStyle/>
          <a:p>
            <a:pPr eaLnBrk="1" hangingPunct="1"/>
            <a:r>
              <a:rPr lang="en-US" altLang="en-US" sz="4000" b="1" dirty="0"/>
              <a:t>Graphing concentration curves from grouped data</a:t>
            </a:r>
          </a:p>
        </p:txBody>
      </p:sp>
      <p:sp>
        <p:nvSpPr>
          <p:cNvPr id="26628" name="Rectangle 3">
            <a:extLst>
              <a:ext uri="{FF2B5EF4-FFF2-40B4-BE49-F238E27FC236}">
                <a16:creationId xmlns:a16="http://schemas.microsoft.com/office/drawing/2014/main" id="{EAC91DC4-93F1-1850-09C7-08C57ED92EC3}"/>
              </a:ext>
            </a:extLst>
          </p:cNvPr>
          <p:cNvSpPr>
            <a:spLocks noGrp="1" noChangeArrowheads="1"/>
          </p:cNvSpPr>
          <p:nvPr>
            <p:ph type="body" idx="1"/>
          </p:nvPr>
        </p:nvSpPr>
        <p:spPr>
          <a:xfrm>
            <a:off x="449706" y="1933731"/>
            <a:ext cx="8199620" cy="4236882"/>
          </a:xfrm>
        </p:spPr>
        <p:txBody>
          <a:bodyPr/>
          <a:lstStyle/>
          <a:p>
            <a:pPr>
              <a:buClr>
                <a:schemeClr val="tx1"/>
              </a:buClr>
            </a:pPr>
            <a:r>
              <a:rPr lang="en-US" altLang="en-US" sz="2800" dirty="0"/>
              <a:t>Rank individuals/HHs by living standards variable, into quintiles (or deciles).</a:t>
            </a:r>
          </a:p>
          <a:p>
            <a:pPr>
              <a:buClr>
                <a:schemeClr val="tx1"/>
              </a:buClr>
            </a:pPr>
            <a:r>
              <a:rPr lang="en-US" altLang="en-US" sz="2800" dirty="0"/>
              <a:t>Obtain for each quintile the mean of the variable of interest.</a:t>
            </a:r>
          </a:p>
          <a:p>
            <a:pPr>
              <a:buClr>
                <a:schemeClr val="tx1"/>
              </a:buClr>
            </a:pPr>
            <a:r>
              <a:rPr lang="en-US" altLang="en-US" sz="2800" dirty="0"/>
              <a:t>Paste quintile means and counts into Excel; form cumulative % relevant cases and corresponding. cumulative % of total value of variable of interest; graph concentration curve using </a:t>
            </a:r>
            <a:r>
              <a:rPr lang="en-US" altLang="en-US" sz="2800" dirty="0" err="1"/>
              <a:t>xy</a:t>
            </a:r>
            <a:r>
              <a:rPr lang="en-US" altLang="en-US" sz="2800" dirty="0"/>
              <a:t> chart.</a:t>
            </a:r>
          </a:p>
          <a:p>
            <a:pPr marL="800100" lvl="1" indent="-342900" eaLnBrk="1" hangingPunct="1">
              <a:buFontTx/>
              <a:buAutoNum type="arabicPeriod"/>
            </a:pP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027532-3B75-8BE5-E1B5-3FC7C5663D23}"/>
              </a:ext>
            </a:extLst>
          </p:cNvPr>
          <p:cNvSpPr>
            <a:spLocks noGrp="1"/>
          </p:cNvSpPr>
          <p:nvPr>
            <p:ph type="title"/>
          </p:nvPr>
        </p:nvSpPr>
        <p:spPr/>
        <p:txBody>
          <a:bodyPr>
            <a:normAutofit/>
          </a:bodyPr>
          <a:lstStyle/>
          <a:p>
            <a:r>
              <a:rPr lang="en-US" dirty="0"/>
              <a:t>Example of a Concentration Curve Derived from Grouped Data</a:t>
            </a:r>
            <a:endParaRPr lang="en-IN" sz="4000" dirty="0"/>
          </a:p>
        </p:txBody>
      </p:sp>
      <p:pic>
        <p:nvPicPr>
          <p:cNvPr id="5" name="Picture 4">
            <a:extLst>
              <a:ext uri="{FF2B5EF4-FFF2-40B4-BE49-F238E27FC236}">
                <a16:creationId xmlns:a16="http://schemas.microsoft.com/office/drawing/2014/main" id="{0108CE45-5E64-1746-9AD8-A46CA0C01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364" y="1579418"/>
            <a:ext cx="8492836" cy="4724399"/>
          </a:xfrm>
          <a:prstGeom prst="rect">
            <a:avLst/>
          </a:prstGeom>
          <a:solidFill>
            <a:srgbClr val="FFFFFF"/>
          </a:solidFill>
          <a:ln w="9525">
            <a:solidFill>
              <a:srgbClr val="000000"/>
            </a:solidFill>
            <a:miter lim="800000"/>
            <a:headEnd/>
            <a:tailEnd/>
          </a:ln>
        </p:spPr>
      </p:pic>
    </p:spTree>
    <p:extLst>
      <p:ext uri="{BB962C8B-B14F-4D97-AF65-F5344CB8AC3E}">
        <p14:creationId xmlns:p14="http://schemas.microsoft.com/office/powerpoint/2010/main" val="1908237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b="1" dirty="0"/>
              <a:t>Graphing the concentration Curve for individual data</a:t>
            </a:r>
            <a:endParaRPr b="1" dirty="0">
              <a:latin typeface="Times New Roman"/>
            </a:endParaRPr>
          </a:p>
        </p:txBody>
      </p:sp>
      <p:sp>
        <p:nvSpPr>
          <p:cNvPr id="3" name="Content Placeholder 2"/>
          <p:cNvSpPr>
            <a:spLocks noGrp="1"/>
          </p:cNvSpPr>
          <p:nvPr>
            <p:ph idx="1"/>
          </p:nvPr>
        </p:nvSpPr>
        <p:spPr>
          <a:xfrm>
            <a:off x="637082" y="1600202"/>
            <a:ext cx="8229600" cy="5119253"/>
          </a:xfrm>
        </p:spPr>
        <p:txBody>
          <a:bodyPr>
            <a:noAutofit/>
          </a:bodyPr>
          <a:lstStyle/>
          <a:p>
            <a:pPr>
              <a:buFont typeface="Wingdings" panose="05000000000000000000" pitchFamily="2" charset="2"/>
              <a:buChar char="Ø"/>
              <a:defRPr sz="2000"/>
            </a:pPr>
            <a:r>
              <a:rPr lang="en-US" altLang="en-US" sz="2600" dirty="0"/>
              <a:t>The advantage of the concentration is that it can be computed from individual-level data and so gives a picture of the complete distribution.  </a:t>
            </a:r>
          </a:p>
          <a:p>
            <a:pPr marL="0" indent="0">
              <a:buNone/>
              <a:defRPr sz="2000"/>
            </a:pPr>
            <a:r>
              <a:rPr lang="en-US" altLang="en-US" sz="2600" dirty="0"/>
              <a:t>  Steps:</a:t>
            </a:r>
          </a:p>
          <a:p>
            <a:pPr>
              <a:defRPr sz="2000"/>
            </a:pPr>
            <a:r>
              <a:rPr lang="en-US" sz="2600" dirty="0"/>
              <a:t>Order individuals by SES rank x (poorest → richest)</a:t>
            </a:r>
          </a:p>
          <a:p>
            <a:pPr>
              <a:defRPr sz="2000"/>
            </a:pPr>
            <a:r>
              <a:rPr lang="en-US" sz="2600" dirty="0"/>
              <a:t>x-axis: cumulative population share p ∈ [0,1]</a:t>
            </a:r>
          </a:p>
          <a:p>
            <a:pPr>
              <a:defRPr sz="2000"/>
            </a:pPr>
            <a:r>
              <a:rPr lang="en-US" sz="2600" dirty="0"/>
              <a:t>y-axis: cumulative share of outcome y (non-negative)</a:t>
            </a:r>
          </a:p>
          <a:p>
            <a:r>
              <a:rPr sz="2600" dirty="0">
                <a:latin typeface="Times New Roman"/>
              </a:rPr>
              <a:t>Equality line L₀(p)=p; pro-rich (good) ⇒ L below 45°, pro-poor ⇒ above</a:t>
            </a:r>
            <a:r>
              <a:rPr lang="en-IN" sz="2600" dirty="0">
                <a:latin typeface="Times New Roman"/>
              </a:rPr>
              <a:t>.</a:t>
            </a:r>
          </a:p>
          <a:p>
            <a:r>
              <a:rPr lang="en-US" sz="2600" dirty="0"/>
              <a:t>L(p) is the total percentage of y that falls to the bottom p by SES rank.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9C66C279-DDFC-CDB0-1EC3-5A5C33CFB0E4}"/>
              </a:ext>
            </a:extLst>
          </p:cNvPr>
          <p:cNvSpPr>
            <a:spLocks noGrp="1" noChangeArrowheads="1"/>
          </p:cNvSpPr>
          <p:nvPr>
            <p:ph type="title"/>
          </p:nvPr>
        </p:nvSpPr>
        <p:spPr>
          <a:xfrm>
            <a:off x="284163" y="348092"/>
            <a:ext cx="8365162" cy="1593850"/>
          </a:xfrm>
        </p:spPr>
        <p:txBody>
          <a:bodyPr/>
          <a:lstStyle/>
          <a:p>
            <a:r>
              <a:rPr lang="en-IN" sz="3200" b="1" dirty="0"/>
              <a:t>Graphing the concentration Curve L(p) for individual data (STATA commands)</a:t>
            </a:r>
            <a:endParaRPr lang="en-US" altLang="en-US" sz="3200" b="1" dirty="0"/>
          </a:p>
        </p:txBody>
      </p:sp>
      <p:sp>
        <p:nvSpPr>
          <p:cNvPr id="3" name="TextBox 2">
            <a:extLst>
              <a:ext uri="{FF2B5EF4-FFF2-40B4-BE49-F238E27FC236}">
                <a16:creationId xmlns:a16="http://schemas.microsoft.com/office/drawing/2014/main" id="{5591AFE2-F89F-2623-44A4-10479A17684E}"/>
              </a:ext>
            </a:extLst>
          </p:cNvPr>
          <p:cNvSpPr txBox="1"/>
          <p:nvPr/>
        </p:nvSpPr>
        <p:spPr>
          <a:xfrm>
            <a:off x="613689" y="1913598"/>
            <a:ext cx="8035636" cy="2677656"/>
          </a:xfrm>
          <a:prstGeom prst="rect">
            <a:avLst/>
          </a:prstGeom>
          <a:noFill/>
        </p:spPr>
        <p:txBody>
          <a:bodyPr wrap="square">
            <a:spAutoFit/>
          </a:bodyPr>
          <a:lstStyle/>
          <a:p>
            <a:pPr marL="285750" indent="-285750">
              <a:buFont typeface="Arial" panose="020B0604020202020204" pitchFamily="34" charset="0"/>
              <a:buChar char="•"/>
            </a:pPr>
            <a:endParaRPr lang="en-US" altLang="en-US" sz="2800" dirty="0"/>
          </a:p>
          <a:p>
            <a:pPr marL="285750" indent="-285750">
              <a:buFont typeface="Arial" panose="020B0604020202020204" pitchFamily="34" charset="0"/>
              <a:buChar char="•"/>
            </a:pPr>
            <a:r>
              <a:rPr lang="en-US" altLang="en-US" sz="2800" dirty="0" err="1"/>
              <a:t>glcurve</a:t>
            </a:r>
            <a:r>
              <a:rPr lang="en-US" altLang="en-US" sz="2800" dirty="0"/>
              <a:t> y, </a:t>
            </a:r>
            <a:r>
              <a:rPr lang="en-US" altLang="en-US" sz="2800" dirty="0" err="1"/>
              <a:t>glvar</a:t>
            </a:r>
            <a:r>
              <a:rPr lang="en-US" altLang="en-US" sz="2800" dirty="0"/>
              <a:t>(</a:t>
            </a:r>
            <a:r>
              <a:rPr lang="en-US" altLang="en-US" sz="2800" dirty="0" err="1"/>
              <a:t>yord</a:t>
            </a:r>
            <a:r>
              <a:rPr lang="en-US" altLang="en-US" sz="2800" dirty="0"/>
              <a:t>) </a:t>
            </a:r>
            <a:r>
              <a:rPr lang="en-US" altLang="en-US" sz="2800" dirty="0" err="1"/>
              <a:t>pvar</a:t>
            </a:r>
            <a:r>
              <a:rPr lang="en-US" altLang="en-US" sz="2800" dirty="0"/>
              <a:t>(rank) </a:t>
            </a:r>
            <a:r>
              <a:rPr lang="en-US" altLang="en-US" sz="2800" dirty="0" err="1"/>
              <a:t>sortvar</a:t>
            </a:r>
            <a:r>
              <a:rPr lang="en-US" altLang="en-US" sz="2800" dirty="0"/>
              <a:t>(x)</a:t>
            </a:r>
          </a:p>
          <a:p>
            <a:pPr marL="285750" indent="-285750">
              <a:buFont typeface="Arial" panose="020B0604020202020204" pitchFamily="34" charset="0"/>
              <a:buChar char="•"/>
            </a:pPr>
            <a:endParaRPr lang="en-US" altLang="en-US" sz="2800" dirty="0"/>
          </a:p>
          <a:p>
            <a:pPr marL="285750" indent="-285750">
              <a:buFont typeface="Arial" panose="020B0604020202020204" pitchFamily="34" charset="0"/>
              <a:buChar char="•"/>
            </a:pPr>
            <a:r>
              <a:rPr lang="en-US" altLang="en-US" sz="2800" dirty="0"/>
              <a:t>or use </a:t>
            </a:r>
            <a:r>
              <a:rPr lang="en-US" altLang="en-US" sz="2800" dirty="0" err="1"/>
              <a:t>twoway</a:t>
            </a:r>
            <a:r>
              <a:rPr lang="en-US" altLang="en-US" sz="2800" dirty="0"/>
              <a:t> graph routines to plot the coordinates </a:t>
            </a:r>
            <a:r>
              <a:rPr lang="en-US" altLang="en-US" sz="2800" dirty="0" err="1"/>
              <a:t>yord</a:t>
            </a:r>
            <a:r>
              <a:rPr lang="en-US" altLang="en-US" sz="2800" dirty="0"/>
              <a:t> &amp; rank.  </a:t>
            </a:r>
          </a:p>
          <a:p>
            <a:r>
              <a:rPr lang="en-US" altLang="en-US" sz="2800" dirty="0"/>
              <a:t> (Will show in STATA example)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186" y="2279535"/>
            <a:ext cx="7772400" cy="1362075"/>
          </a:xfrm>
        </p:spPr>
        <p:txBody>
          <a:bodyPr/>
          <a:lstStyle/>
          <a:p>
            <a:pPr algn="ctr"/>
            <a:r>
              <a:rPr dirty="0">
                <a:latin typeface="Times New Roman"/>
              </a:rPr>
              <a:t>Fractional Rank </a:t>
            </a:r>
          </a:p>
        </p:txBody>
      </p:sp>
      <p:sp>
        <p:nvSpPr>
          <p:cNvPr id="3" name="Text Placeholder 2"/>
          <p:cNvSpPr>
            <a:spLocks noGrp="1"/>
          </p:cNvSpPr>
          <p:nvPr>
            <p:ph type="body" idx="1"/>
          </p:nvPr>
        </p:nvSpPr>
        <p:spPr>
          <a:xfrm>
            <a:off x="917186" y="2906713"/>
            <a:ext cx="7772400" cy="734897"/>
          </a:xfrm>
        </p:spPr>
        <p:txBody>
          <a:bodyPr>
            <a:normAutofit/>
          </a:bodyPr>
          <a:lstStyle/>
          <a:p>
            <a:pPr algn="ctr"/>
            <a:r>
              <a:rPr sz="2400" dirty="0">
                <a:solidFill>
                  <a:schemeClr val="tx1"/>
                </a:solidFill>
                <a:latin typeface="Times New Roman"/>
              </a:rPr>
              <a:t>Definition, construction, and derivation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02"/>
            <a:ext cx="8229600" cy="1143000"/>
          </a:xfrm>
        </p:spPr>
        <p:txBody>
          <a:bodyPr>
            <a:normAutofit/>
          </a:bodyPr>
          <a:lstStyle/>
          <a:p>
            <a:r>
              <a:rPr b="1" dirty="0">
                <a:latin typeface="Times New Roman"/>
              </a:rPr>
              <a:t>Fractional Rank on [0,1] Ruler</a:t>
            </a:r>
          </a:p>
        </p:txBody>
      </p:sp>
      <p:sp>
        <p:nvSpPr>
          <p:cNvPr id="3" name="Content Placeholder 2"/>
          <p:cNvSpPr>
            <a:spLocks noGrp="1"/>
          </p:cNvSpPr>
          <p:nvPr>
            <p:ph idx="1"/>
          </p:nvPr>
        </p:nvSpPr>
        <p:spPr>
          <a:xfrm>
            <a:off x="659567" y="4359492"/>
            <a:ext cx="7824865" cy="2364653"/>
          </a:xfrm>
        </p:spPr>
        <p:txBody>
          <a:bodyPr>
            <a:noAutofit/>
          </a:bodyPr>
          <a:lstStyle/>
          <a:p>
            <a:r>
              <a:rPr lang="en-US" dirty="0"/>
              <a:t>Lay the population on a ruler from 0 (poorest) to 1 (richest); each person occupies a slice (bigger if survey weight is larger). Your fractional rank is the midpoint of your slice.</a:t>
            </a:r>
          </a:p>
          <a:p>
            <a:r>
              <a:rPr lang="en-US" dirty="0"/>
              <a:t> I.e., fractional rank is a person’s position on a 0–1 scale after sorting everyone by socioeconomic status.</a:t>
            </a:r>
          </a:p>
          <a:p>
            <a:endParaRPr lang="en-US" dirty="0"/>
          </a:p>
          <a:p>
            <a:endParaRPr dirty="0">
              <a:latin typeface="Times New Roman"/>
            </a:endParaRPr>
          </a:p>
        </p:txBody>
      </p:sp>
      <p:pic>
        <p:nvPicPr>
          <p:cNvPr id="6" name="Picture 5">
            <a:extLst>
              <a:ext uri="{FF2B5EF4-FFF2-40B4-BE49-F238E27FC236}">
                <a16:creationId xmlns:a16="http://schemas.microsoft.com/office/drawing/2014/main" id="{E4DCEDFE-A9F3-8803-E442-C7BE9787BA66}"/>
              </a:ext>
            </a:extLst>
          </p:cNvPr>
          <p:cNvPicPr>
            <a:picLocks noChangeAspect="1"/>
          </p:cNvPicPr>
          <p:nvPr/>
        </p:nvPicPr>
        <p:blipFill>
          <a:blip r:embed="rId2"/>
          <a:stretch>
            <a:fillRect/>
          </a:stretch>
        </p:blipFill>
        <p:spPr>
          <a:xfrm>
            <a:off x="299803" y="1316181"/>
            <a:ext cx="8544394" cy="285403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a:rPr>
              <a:t>Definition (Weighted Mid-Rank</a:t>
            </a:r>
            <a:r>
              <a:rPr lang="en-IN" b="1" dirty="0">
                <a:latin typeface="Times New Roman"/>
              </a:rPr>
              <a:t>/ cumulative share</a:t>
            </a:r>
            <a:r>
              <a:rPr b="1" dirty="0">
                <a:latin typeface="Times New Roman"/>
              </a:rPr>
              <a:t>)</a:t>
            </a:r>
          </a:p>
        </p:txBody>
      </p:sp>
      <p:sp>
        <p:nvSpPr>
          <p:cNvPr id="3" name="Content Placeholder 2"/>
          <p:cNvSpPr>
            <a:spLocks noGrp="1"/>
          </p:cNvSpPr>
          <p:nvPr>
            <p:ph idx="1"/>
          </p:nvPr>
        </p:nvSpPr>
        <p:spPr>
          <a:xfrm>
            <a:off x="457200" y="1600202"/>
            <a:ext cx="8229600" cy="4983160"/>
          </a:xfrm>
        </p:spPr>
        <p:txBody>
          <a:bodyPr>
            <a:normAutofit/>
          </a:bodyPr>
          <a:lstStyle/>
          <a:p>
            <a:r>
              <a:rPr lang="en-US" sz="2800" dirty="0"/>
              <a:t>What it is: The cumulative share of the population up to person 𝑖 plus half of its own share.</a:t>
            </a:r>
          </a:p>
          <a:p>
            <a:r>
              <a:rPr lang="en-US" sz="2800" b="1" dirty="0"/>
              <a:t>Unweighted formula:  </a:t>
            </a:r>
            <a:r>
              <a:rPr lang="en-US" sz="2800" dirty="0"/>
              <a:t>Ri = (</a:t>
            </a:r>
            <a:r>
              <a:rPr lang="en-US" sz="2800" dirty="0" err="1"/>
              <a:t>i</a:t>
            </a:r>
            <a:r>
              <a:rPr lang="en-US" sz="2800" dirty="0"/>
              <a:t> − 1/2) / n  (people numbered 1..n after sorting by SES).</a:t>
            </a:r>
          </a:p>
          <a:p>
            <a:pPr>
              <a:lnSpc>
                <a:spcPct val="150000"/>
              </a:lnSpc>
            </a:pPr>
            <a:r>
              <a:rPr lang="en-US" sz="2800" b="1" dirty="0">
                <a:latin typeface="Times New Roman"/>
              </a:rPr>
              <a:t>Weighted formula: </a:t>
            </a:r>
            <a:r>
              <a:rPr lang="en-US" sz="2800" dirty="0">
                <a:latin typeface="Times New Roman"/>
              </a:rPr>
              <a:t>Let weights wᵢ, total W=</a:t>
            </a:r>
            <a:r>
              <a:rPr lang="en-US" sz="2800" dirty="0" err="1">
                <a:latin typeface="Times New Roman"/>
              </a:rPr>
              <a:t>Σw</a:t>
            </a:r>
            <a:r>
              <a:rPr lang="en-US" sz="2800" dirty="0">
                <a:latin typeface="Times New Roman"/>
              </a:rPr>
              <a:t>ᵢ, and cumulative before </a:t>
            </a:r>
            <a:r>
              <a:rPr lang="en-US" sz="2800" dirty="0" err="1">
                <a:latin typeface="Times New Roman"/>
              </a:rPr>
              <a:t>i</a:t>
            </a:r>
            <a:r>
              <a:rPr lang="en-US" sz="2800" dirty="0">
                <a:latin typeface="Times New Roman"/>
              </a:rPr>
              <a:t> be S</a:t>
            </a:r>
            <a:r>
              <a:rPr lang="en-US" sz="2800" baseline="-25000" dirty="0">
                <a:latin typeface="Times New Roman"/>
              </a:rPr>
              <a:t>{i−1}=</a:t>
            </a:r>
            <a:r>
              <a:rPr lang="en-US" sz="2800" dirty="0">
                <a:latin typeface="Times New Roman"/>
              </a:rPr>
              <a:t>Σ</a:t>
            </a:r>
            <a:r>
              <a:rPr lang="en-US" sz="2800" baseline="-25000" dirty="0">
                <a:latin typeface="Times New Roman"/>
              </a:rPr>
              <a:t>{j&lt;</a:t>
            </a:r>
            <a:r>
              <a:rPr lang="en-US" sz="2800" baseline="-25000" dirty="0" err="1">
                <a:latin typeface="Times New Roman"/>
              </a:rPr>
              <a:t>i</a:t>
            </a:r>
            <a:r>
              <a:rPr lang="en-US" sz="2800" baseline="-25000" dirty="0">
                <a:latin typeface="Times New Roman"/>
              </a:rPr>
              <a:t>} </a:t>
            </a:r>
            <a:r>
              <a:rPr lang="en-US" sz="2800" dirty="0" err="1">
                <a:latin typeface="Times New Roman"/>
              </a:rPr>
              <a:t>w</a:t>
            </a:r>
            <a:r>
              <a:rPr lang="en-US" sz="2800" baseline="-25000" dirty="0" err="1">
                <a:latin typeface="Times New Roman"/>
              </a:rPr>
              <a:t>j</a:t>
            </a:r>
            <a:r>
              <a:rPr lang="en-US" sz="2800" baseline="-25000" dirty="0">
                <a:latin typeface="Times New Roman"/>
              </a:rPr>
              <a:t>.</a:t>
            </a:r>
          </a:p>
          <a:p>
            <a:pPr marL="0" indent="0">
              <a:lnSpc>
                <a:spcPct val="150000"/>
              </a:lnSpc>
              <a:buNone/>
            </a:pPr>
            <a:r>
              <a:rPr lang="en-US" sz="2800" dirty="0">
                <a:latin typeface="Times New Roman"/>
              </a:rPr>
              <a:t>    Fractional rank:  Rᵢ = (S</a:t>
            </a:r>
            <a:r>
              <a:rPr lang="en-US" sz="2800" baseline="-25000" dirty="0">
                <a:latin typeface="Times New Roman"/>
              </a:rPr>
              <a:t>{i−1} </a:t>
            </a:r>
            <a:r>
              <a:rPr lang="en-US" sz="2800" dirty="0">
                <a:latin typeface="Times New Roman"/>
              </a:rPr>
              <a:t>+ 0.5 wᵢ)/W ∈ (0,1)</a:t>
            </a:r>
          </a:p>
          <a:p>
            <a:pPr>
              <a:lnSpc>
                <a:spcPct val="150000"/>
              </a:lnSpc>
            </a:pPr>
            <a:r>
              <a:rPr lang="en-US" sz="2800" dirty="0">
                <a:latin typeface="Times New Roman"/>
              </a:rPr>
              <a:t>Key property: weighted mean E[R] = 1/2. </a:t>
            </a:r>
          </a:p>
          <a:p>
            <a:pPr marL="0" indent="0">
              <a:lnSpc>
                <a:spcPct val="200000"/>
              </a:lnSpc>
              <a:buNone/>
            </a:pPr>
            <a:endParaRPr lang="en-US" sz="2800" dirty="0"/>
          </a:p>
          <a:p>
            <a:pPr>
              <a:lnSpc>
                <a:spcPct val="150000"/>
              </a:lnSpc>
            </a:pPr>
            <a:endParaRPr sz="2800" dirty="0">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a:rPr>
              <a:t>Why E[R]=1/2 (Proof)</a:t>
            </a:r>
          </a:p>
        </p:txBody>
      </p:sp>
      <p:sp>
        <p:nvSpPr>
          <p:cNvPr id="3" name="Content Placeholder 2"/>
          <p:cNvSpPr>
            <a:spLocks noGrp="1"/>
          </p:cNvSpPr>
          <p:nvPr>
            <p:ph idx="1"/>
          </p:nvPr>
        </p:nvSpPr>
        <p:spPr>
          <a:xfrm>
            <a:off x="457200" y="1758506"/>
            <a:ext cx="8431967" cy="4406766"/>
          </a:xfrm>
        </p:spPr>
        <p:txBody>
          <a:bodyPr>
            <a:normAutofit lnSpcReduction="10000"/>
          </a:bodyPr>
          <a:lstStyle/>
          <a:p>
            <a:pPr>
              <a:lnSpc>
                <a:spcPct val="200000"/>
              </a:lnSpc>
            </a:pPr>
            <a:r>
              <a:rPr lang="en-IN" sz="2800" dirty="0">
                <a:latin typeface="Times New Roman"/>
              </a:rPr>
              <a:t>E[R] = (1/W) </a:t>
            </a:r>
            <a:r>
              <a:rPr lang="el-GR" sz="2800" dirty="0">
                <a:latin typeface="Times New Roman"/>
              </a:rPr>
              <a:t>Σ </a:t>
            </a:r>
            <a:r>
              <a:rPr lang="en-IN" sz="2800" dirty="0">
                <a:latin typeface="Times New Roman"/>
              </a:rPr>
              <a:t>wᵢ Rᵢ</a:t>
            </a:r>
          </a:p>
          <a:p>
            <a:pPr marL="0" indent="0">
              <a:lnSpc>
                <a:spcPct val="200000"/>
              </a:lnSpc>
              <a:buNone/>
            </a:pPr>
            <a:r>
              <a:rPr lang="en-IN" sz="2800" dirty="0">
                <a:latin typeface="Times New Roman"/>
              </a:rPr>
              <a:t> = (1/W²){ </a:t>
            </a:r>
            <a:r>
              <a:rPr lang="el-GR" sz="2800" dirty="0">
                <a:latin typeface="Times New Roman"/>
              </a:rPr>
              <a:t>Σ </a:t>
            </a:r>
            <a:r>
              <a:rPr lang="en-IN" sz="2800" dirty="0">
                <a:latin typeface="Times New Roman"/>
              </a:rPr>
              <a:t>wᵢ S</a:t>
            </a:r>
            <a:r>
              <a:rPr lang="en-IN" sz="2800" baseline="-25000" dirty="0">
                <a:latin typeface="Times New Roman"/>
              </a:rPr>
              <a:t>{i−1} </a:t>
            </a:r>
            <a:r>
              <a:rPr lang="en-IN" sz="2800" dirty="0">
                <a:latin typeface="Times New Roman"/>
              </a:rPr>
              <a:t>+ 0.5 </a:t>
            </a:r>
            <a:r>
              <a:rPr lang="el-GR" sz="2800" dirty="0">
                <a:latin typeface="Times New Roman"/>
              </a:rPr>
              <a:t>Σ </a:t>
            </a:r>
            <a:r>
              <a:rPr lang="en-IN" sz="2800" dirty="0">
                <a:latin typeface="Times New Roman"/>
              </a:rPr>
              <a:t>wᵢ² }</a:t>
            </a:r>
          </a:p>
          <a:p>
            <a:pPr>
              <a:lnSpc>
                <a:spcPct val="200000"/>
              </a:lnSpc>
            </a:pPr>
            <a:r>
              <a:rPr lang="el-GR" sz="2800" dirty="0">
                <a:latin typeface="Times New Roman"/>
              </a:rPr>
              <a:t>Σ </a:t>
            </a:r>
            <a:r>
              <a:rPr lang="en-IN" sz="2800" dirty="0">
                <a:latin typeface="Times New Roman"/>
              </a:rPr>
              <a:t>wᵢ S</a:t>
            </a:r>
            <a:r>
              <a:rPr lang="en-IN" sz="2800" baseline="-25000" dirty="0">
                <a:latin typeface="Times New Roman"/>
              </a:rPr>
              <a:t>{i−1}</a:t>
            </a:r>
            <a:r>
              <a:rPr lang="en-IN" sz="2800" dirty="0">
                <a:latin typeface="Times New Roman"/>
              </a:rPr>
              <a:t> = </a:t>
            </a:r>
            <a:r>
              <a:rPr lang="el-GR" sz="2800" dirty="0">
                <a:latin typeface="Times New Roman"/>
              </a:rPr>
              <a:t>Σ</a:t>
            </a:r>
            <a:r>
              <a:rPr lang="el-GR" sz="2800" baseline="-25000" dirty="0">
                <a:latin typeface="Times New Roman"/>
              </a:rPr>
              <a:t>{</a:t>
            </a:r>
            <a:r>
              <a:rPr lang="en-IN" sz="2800" baseline="-25000" dirty="0">
                <a:latin typeface="Times New Roman"/>
              </a:rPr>
              <a:t>j&lt;</a:t>
            </a:r>
            <a:r>
              <a:rPr lang="en-IN" sz="2800" baseline="-25000" dirty="0" err="1">
                <a:latin typeface="Times New Roman"/>
              </a:rPr>
              <a:t>i</a:t>
            </a:r>
            <a:r>
              <a:rPr lang="en-IN" sz="2800" baseline="-25000" dirty="0">
                <a:latin typeface="Times New Roman"/>
              </a:rPr>
              <a:t>} </a:t>
            </a:r>
            <a:r>
              <a:rPr lang="en-IN" sz="2800" dirty="0" err="1">
                <a:latin typeface="Times New Roman"/>
              </a:rPr>
              <a:t>w</a:t>
            </a:r>
            <a:r>
              <a:rPr lang="en-IN" sz="2800" baseline="-25000" dirty="0" err="1">
                <a:latin typeface="Times New Roman"/>
              </a:rPr>
              <a:t>i</a:t>
            </a:r>
            <a:r>
              <a:rPr lang="en-IN" sz="2800" dirty="0">
                <a:latin typeface="Times New Roman"/>
              </a:rPr>
              <a:t> </a:t>
            </a:r>
            <a:r>
              <a:rPr lang="en-IN" sz="2800" dirty="0" err="1">
                <a:latin typeface="Times New Roman"/>
              </a:rPr>
              <a:t>w</a:t>
            </a:r>
            <a:r>
              <a:rPr lang="en-IN" sz="2800" baseline="-25000" dirty="0" err="1">
                <a:latin typeface="Times New Roman"/>
              </a:rPr>
              <a:t>j</a:t>
            </a:r>
            <a:r>
              <a:rPr lang="en-IN" sz="2800" dirty="0">
                <a:latin typeface="Times New Roman"/>
              </a:rPr>
              <a:t> = 0.5[(</a:t>
            </a:r>
            <a:r>
              <a:rPr lang="el-GR" sz="2800" dirty="0">
                <a:latin typeface="Times New Roman"/>
              </a:rPr>
              <a:t>Σ </a:t>
            </a:r>
            <a:r>
              <a:rPr lang="en-IN" sz="2800" dirty="0">
                <a:latin typeface="Times New Roman"/>
              </a:rPr>
              <a:t>wᵢ)² − </a:t>
            </a:r>
            <a:r>
              <a:rPr lang="el-GR" sz="2800" dirty="0">
                <a:latin typeface="Times New Roman"/>
              </a:rPr>
              <a:t>Σ </a:t>
            </a:r>
            <a:r>
              <a:rPr lang="en-IN" sz="2800" dirty="0">
                <a:latin typeface="Times New Roman"/>
              </a:rPr>
              <a:t>wᵢ²]</a:t>
            </a:r>
          </a:p>
          <a:p>
            <a:pPr>
              <a:lnSpc>
                <a:spcPct val="200000"/>
              </a:lnSpc>
            </a:pPr>
            <a:r>
              <a:rPr lang="en-IN" sz="2800" dirty="0">
                <a:latin typeface="Times New Roman"/>
              </a:rPr>
              <a:t>Therefore E[R] = (1/W²)·0.5·W² = ½</a:t>
            </a:r>
          </a:p>
          <a:p>
            <a:pPr>
              <a:lnSpc>
                <a:spcPct val="200000"/>
              </a:lnSpc>
            </a:pPr>
            <a:r>
              <a:rPr lang="en-IN" sz="2800" dirty="0"/>
              <a:t>Ensures the (weighted) average rank equals ½.</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8841" y="2533132"/>
            <a:ext cx="7772400" cy="1362075"/>
          </a:xfrm>
        </p:spPr>
        <p:txBody>
          <a:bodyPr>
            <a:normAutofit fontScale="90000"/>
          </a:bodyPr>
          <a:lstStyle/>
          <a:p>
            <a:pPr algn="ctr"/>
            <a:r>
              <a:rPr lang="en-IN" dirty="0">
                <a:latin typeface="Times New Roman"/>
              </a:rPr>
              <a:t>Estimation of Concentration Index</a:t>
            </a:r>
            <a:br>
              <a:rPr lang="en-IN" dirty="0">
                <a:latin typeface="Times New Roman"/>
              </a:rPr>
            </a:br>
            <a:br>
              <a:rPr lang="en-IN" dirty="0">
                <a:latin typeface="Times New Roman"/>
              </a:rPr>
            </a:br>
            <a:r>
              <a:rPr sz="2200" dirty="0">
                <a:latin typeface="Times New Roman"/>
              </a:rPr>
              <a:t>From Geometry to Covariance</a:t>
            </a:r>
            <a:endParaRPr dirty="0">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A5A29FC6-4F82-6EC6-4B95-81E2AAB80E28}"/>
              </a:ext>
            </a:extLst>
          </p:cNvPr>
          <p:cNvSpPr>
            <a:spLocks noChangeArrowheads="1"/>
          </p:cNvSpPr>
          <p:nvPr/>
        </p:nvSpPr>
        <p:spPr bwMode="auto">
          <a:xfrm>
            <a:off x="32766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eaLnBrk="1" hangingPunct="1"/>
            <a:endParaRPr lang="en-IN" altLang="en-US"/>
          </a:p>
        </p:txBody>
      </p:sp>
      <p:sp>
        <p:nvSpPr>
          <p:cNvPr id="20484" name="Rectangle 3">
            <a:extLst>
              <a:ext uri="{FF2B5EF4-FFF2-40B4-BE49-F238E27FC236}">
                <a16:creationId xmlns:a16="http://schemas.microsoft.com/office/drawing/2014/main" id="{84CA36C0-AE49-E2F6-569B-D05876E7DE4F}"/>
              </a:ext>
            </a:extLst>
          </p:cNvPr>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eaLnBrk="1" hangingPunct="1"/>
            <a:endParaRPr lang="en-IN" altLang="en-US"/>
          </a:p>
        </p:txBody>
      </p:sp>
      <p:graphicFrame>
        <p:nvGraphicFramePr>
          <p:cNvPr id="20485" name="Object 4">
            <a:hlinkClick r:id="" action="ppaction://ole?verb=0"/>
            <a:extLst>
              <a:ext uri="{FF2B5EF4-FFF2-40B4-BE49-F238E27FC236}">
                <a16:creationId xmlns:a16="http://schemas.microsoft.com/office/drawing/2014/main" id="{336BEF6E-C02B-0301-44F4-747FFFFD58AE}"/>
              </a:ext>
            </a:extLst>
          </p:cNvPr>
          <p:cNvGraphicFramePr>
            <a:graphicFrameLocks noGrp="1" noChangeAspect="1"/>
          </p:cNvGraphicFramePr>
          <p:nvPr>
            <p:ph type="chart" sz="half" idx="1"/>
            <p:extLst>
              <p:ext uri="{D42A27DB-BD31-4B8C-83A1-F6EECF244321}">
                <p14:modId xmlns:p14="http://schemas.microsoft.com/office/powerpoint/2010/main" val="2615489329"/>
              </p:ext>
            </p:extLst>
          </p:nvPr>
        </p:nvGraphicFramePr>
        <p:xfrm>
          <a:off x="685800" y="1336964"/>
          <a:ext cx="7585364" cy="5368636"/>
        </p:xfrm>
        <a:graphic>
          <a:graphicData uri="http://schemas.openxmlformats.org/presentationml/2006/ole">
            <mc:AlternateContent xmlns:mc="http://schemas.openxmlformats.org/markup-compatibility/2006">
              <mc:Choice xmlns:v="urn:schemas-microsoft-com:vml" Requires="v">
                <p:oleObj name="Chart" r:id="rId3" imgW="5772185" imgH="3676831" progId="MSGraph.Chart.8">
                  <p:embed followColorScheme="textAndBackground"/>
                </p:oleObj>
              </mc:Choice>
              <mc:Fallback>
                <p:oleObj name="Chart" r:id="rId3" imgW="5772185" imgH="3676831" progId="MSGraph.Chart.8">
                  <p:embed followColorScheme="textAndBackground"/>
                  <p:pic>
                    <p:nvPicPr>
                      <p:cNvPr id="20485" name="Object 4">
                        <a:hlinkClick r:id="" action="ppaction://ole?verb=0"/>
                        <a:extLst>
                          <a:ext uri="{FF2B5EF4-FFF2-40B4-BE49-F238E27FC236}">
                            <a16:creationId xmlns:a16="http://schemas.microsoft.com/office/drawing/2014/main" id="{336BEF6E-C02B-0301-44F4-747FFFFD58AE}"/>
                          </a:ext>
                        </a:extLst>
                      </p:cNvPr>
                      <p:cNvPicPr>
                        <a:picLocks noChangeAspect="1" noChangeArrowheads="1"/>
                      </p:cNvPicPr>
                      <p:nvPr/>
                    </p:nvPicPr>
                    <p:blipFill>
                      <a:blip r:embed="rId4"/>
                      <a:srcRect/>
                      <a:stretch>
                        <a:fillRect/>
                      </a:stretch>
                    </p:blipFill>
                    <p:spPr bwMode="auto">
                      <a:xfrm>
                        <a:off x="685800" y="1336964"/>
                        <a:ext cx="7585364" cy="5368636"/>
                      </a:xfrm>
                      <a:prstGeom prst="rect">
                        <a:avLst/>
                      </a:prstGeom>
                      <a:noFill/>
                      <a:ln>
                        <a:noFill/>
                      </a:ln>
                      <a:effectLst/>
                    </p:spPr>
                  </p:pic>
                </p:oleObj>
              </mc:Fallback>
            </mc:AlternateContent>
          </a:graphicData>
        </a:graphic>
      </p:graphicFrame>
      <p:sp>
        <p:nvSpPr>
          <p:cNvPr id="20486" name="Line 5">
            <a:extLst>
              <a:ext uri="{FF2B5EF4-FFF2-40B4-BE49-F238E27FC236}">
                <a16:creationId xmlns:a16="http://schemas.microsoft.com/office/drawing/2014/main" id="{457D34D1-838C-F549-51FF-831FF1B7A70A}"/>
              </a:ext>
            </a:extLst>
          </p:cNvPr>
          <p:cNvSpPr>
            <a:spLocks noChangeShapeType="1"/>
          </p:cNvSpPr>
          <p:nvPr/>
        </p:nvSpPr>
        <p:spPr bwMode="auto">
          <a:xfrm flipH="1" flipV="1">
            <a:off x="5419725" y="2413000"/>
            <a:ext cx="1241425" cy="77311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487" name="Text Box 6">
            <a:extLst>
              <a:ext uri="{FF2B5EF4-FFF2-40B4-BE49-F238E27FC236}">
                <a16:creationId xmlns:a16="http://schemas.microsoft.com/office/drawing/2014/main" id="{5BD4C5E8-683B-F29E-ADD8-E59BBA78543B}"/>
              </a:ext>
            </a:extLst>
          </p:cNvPr>
          <p:cNvSpPr txBox="1">
            <a:spLocks noChangeArrowheads="1"/>
          </p:cNvSpPr>
          <p:nvPr/>
        </p:nvSpPr>
        <p:spPr bwMode="auto">
          <a:xfrm>
            <a:off x="6769966" y="2897952"/>
            <a:ext cx="2192338" cy="286232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r>
              <a:rPr lang="en-US" altLang="en-US" sz="2000" dirty="0">
                <a:latin typeface="+mj-lt"/>
                <a:cs typeface="Times New Roman" panose="02020603050405020304" pitchFamily="18" charset="0"/>
              </a:rPr>
              <a:t>CI = 2 x area </a:t>
            </a:r>
            <a:br>
              <a:rPr lang="en-US" altLang="en-US" sz="2000" dirty="0">
                <a:latin typeface="+mj-lt"/>
                <a:cs typeface="Times New Roman" panose="02020603050405020304" pitchFamily="18" charset="0"/>
              </a:rPr>
            </a:br>
            <a:r>
              <a:rPr lang="en-US" altLang="en-US" sz="2000" dirty="0">
                <a:latin typeface="+mj-lt"/>
                <a:cs typeface="Times New Roman" panose="02020603050405020304" pitchFamily="18" charset="0"/>
              </a:rPr>
              <a:t>between 45</a:t>
            </a:r>
            <a:r>
              <a:rPr lang="en-US" altLang="en-US" sz="2000" baseline="30000" dirty="0">
                <a:latin typeface="+mj-lt"/>
                <a:cs typeface="Times New Roman" panose="02020603050405020304" pitchFamily="18" charset="0"/>
              </a:rPr>
              <a:t>0</a:t>
            </a:r>
            <a:r>
              <a:rPr lang="en-US" altLang="en-US" sz="2000" dirty="0">
                <a:latin typeface="+mj-lt"/>
                <a:cs typeface="Times New Roman" panose="02020603050405020304" pitchFamily="18" charset="0"/>
              </a:rPr>
              <a:t> line and </a:t>
            </a:r>
            <a:br>
              <a:rPr lang="en-US" altLang="en-US" sz="2000" dirty="0">
                <a:latin typeface="+mj-lt"/>
                <a:cs typeface="Times New Roman" panose="02020603050405020304" pitchFamily="18" charset="0"/>
              </a:rPr>
            </a:br>
            <a:r>
              <a:rPr lang="en-US" altLang="en-US" sz="2000" dirty="0">
                <a:latin typeface="+mj-lt"/>
                <a:cs typeface="Times New Roman" panose="02020603050405020304" pitchFamily="18" charset="0"/>
              </a:rPr>
              <a:t>concentration curve</a:t>
            </a:r>
          </a:p>
          <a:p>
            <a:endParaRPr lang="en-US" altLang="en-US" sz="2000" dirty="0">
              <a:latin typeface="+mj-lt"/>
              <a:cs typeface="Times New Roman" panose="02020603050405020304" pitchFamily="18" charset="0"/>
            </a:endParaRPr>
          </a:p>
          <a:p>
            <a:r>
              <a:rPr lang="en-US" altLang="en-US" sz="2000" dirty="0">
                <a:latin typeface="+mj-lt"/>
                <a:cs typeface="Times New Roman" panose="02020603050405020304" pitchFamily="18" charset="0"/>
              </a:rPr>
              <a:t>CI &lt; 0 when variable</a:t>
            </a:r>
            <a:br>
              <a:rPr lang="en-US" altLang="en-US" sz="2000" dirty="0">
                <a:latin typeface="+mj-lt"/>
                <a:cs typeface="Times New Roman" panose="02020603050405020304" pitchFamily="18" charset="0"/>
              </a:rPr>
            </a:br>
            <a:r>
              <a:rPr lang="en-US" altLang="en-US" sz="2000" dirty="0">
                <a:latin typeface="+mj-lt"/>
                <a:cs typeface="Times New Roman" panose="02020603050405020304" pitchFamily="18" charset="0"/>
              </a:rPr>
              <a:t>is higher amongst poor</a:t>
            </a:r>
          </a:p>
        </p:txBody>
      </p:sp>
      <p:sp>
        <p:nvSpPr>
          <p:cNvPr id="20488" name="Rectangle 7">
            <a:extLst>
              <a:ext uri="{FF2B5EF4-FFF2-40B4-BE49-F238E27FC236}">
                <a16:creationId xmlns:a16="http://schemas.microsoft.com/office/drawing/2014/main" id="{210FDCAA-CB91-76B8-DED5-9EAEE33F35DD}"/>
              </a:ext>
            </a:extLst>
          </p:cNvPr>
          <p:cNvSpPr>
            <a:spLocks noChangeArrowheads="1"/>
          </p:cNvSpPr>
          <p:nvPr/>
        </p:nvSpPr>
        <p:spPr bwMode="auto">
          <a:xfrm>
            <a:off x="685800" y="193964"/>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sz="3200">
                <a:solidFill>
                  <a:schemeClr val="tx1"/>
                </a:solidFill>
                <a:latin typeface="Times New Roman" panose="02020603050405020304" pitchFamily="18" charset="0"/>
                <a:cs typeface="Arial" panose="020B0604020202020204" pitchFamily="34" charset="0"/>
              </a:defRPr>
            </a:lvl1pPr>
            <a:lvl2pPr marL="742950" indent="-285750">
              <a:defRPr sz="3200">
                <a:solidFill>
                  <a:schemeClr val="tx1"/>
                </a:solidFill>
                <a:latin typeface="Times New Roman" panose="02020603050405020304" pitchFamily="18" charset="0"/>
                <a:cs typeface="Arial" panose="020B0604020202020204" pitchFamily="34" charset="0"/>
              </a:defRPr>
            </a:lvl2pPr>
            <a:lvl3pPr marL="1143000" indent="-228600">
              <a:defRPr sz="3200">
                <a:solidFill>
                  <a:schemeClr val="tx1"/>
                </a:solidFill>
                <a:latin typeface="Times New Roman" panose="02020603050405020304" pitchFamily="18" charset="0"/>
                <a:cs typeface="Arial" panose="020B0604020202020204" pitchFamily="34" charset="0"/>
              </a:defRPr>
            </a:lvl3pPr>
            <a:lvl4pPr marL="1600200" indent="-228600">
              <a:defRPr sz="3200">
                <a:solidFill>
                  <a:schemeClr val="tx1"/>
                </a:solidFill>
                <a:latin typeface="Times New Roman" panose="02020603050405020304" pitchFamily="18" charset="0"/>
                <a:cs typeface="Arial" panose="020B0604020202020204" pitchFamily="34" charset="0"/>
              </a:defRPr>
            </a:lvl4pPr>
            <a:lvl5pPr marL="2057400" indent="-22860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4400" b="1" dirty="0"/>
              <a:t>Concentration index (CI)</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a:rPr>
              <a:t>Concentration Index (CI)</a:t>
            </a:r>
          </a:p>
        </p:txBody>
      </p:sp>
      <p:sp>
        <p:nvSpPr>
          <p:cNvPr id="3" name="Content Placeholder 2"/>
          <p:cNvSpPr>
            <a:spLocks noGrp="1"/>
          </p:cNvSpPr>
          <p:nvPr>
            <p:ph idx="1"/>
          </p:nvPr>
        </p:nvSpPr>
        <p:spPr/>
        <p:txBody>
          <a:bodyPr>
            <a:normAutofit fontScale="92500"/>
          </a:bodyPr>
          <a:lstStyle/>
          <a:p>
            <a:pPr>
              <a:lnSpc>
                <a:spcPct val="150000"/>
              </a:lnSpc>
            </a:pPr>
            <a:r>
              <a:rPr sz="2800" dirty="0">
                <a:latin typeface="Times New Roman"/>
              </a:rPr>
              <a:t>CI ≡ 1 − 2 ∫₀¹ L(p) </a:t>
            </a:r>
            <a:r>
              <a:rPr sz="2800" dirty="0" err="1">
                <a:latin typeface="Times New Roman"/>
              </a:rPr>
              <a:t>dp</a:t>
            </a:r>
            <a:r>
              <a:rPr sz="2800" dirty="0">
                <a:latin typeface="Times New Roman"/>
              </a:rPr>
              <a:t>  (twice the signed area between equality and L(p))</a:t>
            </a:r>
            <a:r>
              <a:rPr lang="en-IN" sz="2800" dirty="0">
                <a:latin typeface="Times New Roman"/>
              </a:rPr>
              <a:t>.</a:t>
            </a:r>
            <a:endParaRPr sz="2800" dirty="0">
              <a:latin typeface="Times New Roman"/>
            </a:endParaRPr>
          </a:p>
          <a:p>
            <a:pPr>
              <a:lnSpc>
                <a:spcPct val="150000"/>
              </a:lnSpc>
            </a:pPr>
            <a:r>
              <a:rPr lang="en-US" sz="2800" dirty="0">
                <a:latin typeface="Times New Roman"/>
              </a:rPr>
              <a:t>C lies in range [-1,1]</a:t>
            </a:r>
          </a:p>
          <a:p>
            <a:pPr>
              <a:lnSpc>
                <a:spcPct val="150000"/>
              </a:lnSpc>
            </a:pPr>
            <a:r>
              <a:rPr lang="en-US" sz="2800" dirty="0">
                <a:latin typeface="Times New Roman"/>
              </a:rPr>
              <a:t>C= 1 if the richest person has all of the health variable.</a:t>
            </a:r>
          </a:p>
          <a:p>
            <a:pPr>
              <a:lnSpc>
                <a:spcPct val="150000"/>
              </a:lnSpc>
            </a:pPr>
            <a:r>
              <a:rPr lang="en-US" sz="2800" dirty="0">
                <a:latin typeface="Times New Roman"/>
              </a:rPr>
              <a:t>C= -1 </a:t>
            </a:r>
            <a:r>
              <a:rPr lang="en-US" sz="2800" dirty="0"/>
              <a:t>of the poorest person has all of the health variable.</a:t>
            </a:r>
            <a:endParaRPr lang="en-US" sz="2800" dirty="0">
              <a:latin typeface="Times New Roman"/>
            </a:endParaRPr>
          </a:p>
          <a:p>
            <a:pPr>
              <a:lnSpc>
                <a:spcPct val="150000"/>
              </a:lnSpc>
            </a:pPr>
            <a:r>
              <a:rPr lang="en-US" sz="2800" dirty="0"/>
              <a:t>Sign shows direction of inequality.</a:t>
            </a:r>
          </a:p>
          <a:p>
            <a:pPr>
              <a:lnSpc>
                <a:spcPct val="150000"/>
              </a:lnSpc>
            </a:pPr>
            <a:endParaRPr lang="en-US" sz="2800" dirty="0">
              <a:latin typeface="Times New Roman"/>
            </a:endParaRPr>
          </a:p>
          <a:p>
            <a:pPr>
              <a:lnSpc>
                <a:spcPct val="150000"/>
              </a:lnSpc>
            </a:pPr>
            <a:endParaRPr sz="2800" dirty="0">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872572B-1717-C3B6-7517-D335F95521C1}"/>
              </a:ext>
            </a:extLst>
          </p:cNvPr>
          <p:cNvPicPr>
            <a:picLocks noChangeAspect="1"/>
          </p:cNvPicPr>
          <p:nvPr/>
        </p:nvPicPr>
        <p:blipFill>
          <a:blip r:embed="rId3"/>
          <a:stretch>
            <a:fillRect/>
          </a:stretch>
        </p:blipFill>
        <p:spPr>
          <a:xfrm>
            <a:off x="1206707" y="194872"/>
            <a:ext cx="7000407" cy="600746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D80F14-62C5-C8C5-892B-3CB82AA332EC}"/>
              </a:ext>
            </a:extLst>
          </p:cNvPr>
          <p:cNvPicPr>
            <a:picLocks noChangeAspect="1"/>
          </p:cNvPicPr>
          <p:nvPr/>
        </p:nvPicPr>
        <p:blipFill>
          <a:blip r:embed="rId2"/>
          <a:stretch>
            <a:fillRect/>
          </a:stretch>
        </p:blipFill>
        <p:spPr>
          <a:xfrm>
            <a:off x="803565" y="228445"/>
            <a:ext cx="7481453" cy="6401109"/>
          </a:xfrm>
          <a:prstGeom prst="rect">
            <a:avLst/>
          </a:prstGeom>
        </p:spPr>
      </p:pic>
    </p:spTree>
    <p:extLst>
      <p:ext uri="{BB962C8B-B14F-4D97-AF65-F5344CB8AC3E}">
        <p14:creationId xmlns:p14="http://schemas.microsoft.com/office/powerpoint/2010/main" val="1490620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27446A-DD12-5FB9-6F31-F9B5A6074C58}"/>
              </a:ext>
            </a:extLst>
          </p:cNvPr>
          <p:cNvPicPr>
            <a:picLocks noChangeAspect="1"/>
          </p:cNvPicPr>
          <p:nvPr/>
        </p:nvPicPr>
        <p:blipFill>
          <a:blip r:embed="rId2"/>
          <a:stretch>
            <a:fillRect/>
          </a:stretch>
        </p:blipFill>
        <p:spPr>
          <a:xfrm>
            <a:off x="886691" y="228445"/>
            <a:ext cx="7495309" cy="6401109"/>
          </a:xfrm>
          <a:prstGeom prst="rect">
            <a:avLst/>
          </a:prstGeom>
        </p:spPr>
      </p:pic>
    </p:spTree>
    <p:extLst>
      <p:ext uri="{BB962C8B-B14F-4D97-AF65-F5344CB8AC3E}">
        <p14:creationId xmlns:p14="http://schemas.microsoft.com/office/powerpoint/2010/main" val="3327652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274638"/>
            <a:ext cx="8866682" cy="1005522"/>
          </a:xfrm>
        </p:spPr>
        <p:txBody>
          <a:bodyPr/>
          <a:lstStyle/>
          <a:p>
            <a:pPr>
              <a:defRPr sz="3400"/>
            </a:pPr>
            <a:r>
              <a:rPr b="1" dirty="0"/>
              <a:t>Concentration Index (CI) from Grouped Data</a:t>
            </a:r>
          </a:p>
        </p:txBody>
      </p:sp>
      <p:sp>
        <p:nvSpPr>
          <p:cNvPr id="3" name="TextBox 2"/>
          <p:cNvSpPr txBox="1"/>
          <p:nvPr/>
        </p:nvSpPr>
        <p:spPr>
          <a:xfrm>
            <a:off x="284813" y="1280160"/>
            <a:ext cx="8634335" cy="5242461"/>
          </a:xfrm>
          <a:prstGeom prst="rect">
            <a:avLst/>
          </a:prstGeom>
          <a:noFill/>
        </p:spPr>
        <p:txBody>
          <a:bodyPr wrap="square">
            <a:spAutoFit/>
          </a:bodyPr>
          <a:lstStyle/>
          <a:p>
            <a:pPr>
              <a:defRPr sz="1800" b="1" i="0"/>
            </a:pPr>
            <a:r>
              <a:rPr lang="en-IN" sz="2400" dirty="0"/>
              <a:t>Definitions (group k, ordered poorest to richest):</a:t>
            </a:r>
          </a:p>
          <a:p>
            <a:pPr lvl="1">
              <a:defRPr sz="1800" b="0" i="0"/>
            </a:pPr>
            <a:r>
              <a:rPr lang="en-IN" sz="2400" dirty="0"/>
              <a:t>p</a:t>
            </a:r>
            <a:r>
              <a:rPr lang="en-IN" sz="2400" baseline="-25000" dirty="0"/>
              <a:t>k</a:t>
            </a:r>
            <a:r>
              <a:rPr lang="en-IN" sz="2400" dirty="0"/>
              <a:t>  = cumulative population share up to group k (e.g., cumulative % births).</a:t>
            </a:r>
          </a:p>
          <a:p>
            <a:pPr lvl="1">
              <a:defRPr sz="1800" b="0" i="0"/>
            </a:pPr>
            <a:r>
              <a:rPr lang="en-IN" sz="2400" dirty="0"/>
              <a:t>L</a:t>
            </a:r>
            <a:r>
              <a:rPr lang="en-IN" sz="2400" baseline="-25000" dirty="0"/>
              <a:t>k</a:t>
            </a:r>
            <a:r>
              <a:rPr lang="en-IN" sz="2400" dirty="0"/>
              <a:t>  = cumulative outcome share up to group k (e.g., cumulative % deaths).</a:t>
            </a:r>
          </a:p>
          <a:p>
            <a:pPr lvl="1">
              <a:defRPr sz="1800" b="0" i="0"/>
            </a:pPr>
            <a:r>
              <a:rPr lang="en-IN" sz="2400" dirty="0"/>
              <a:t>Include the origin: (p</a:t>
            </a:r>
            <a:r>
              <a:rPr lang="en-IN" sz="2400" baseline="-25000" dirty="0"/>
              <a:t>0</a:t>
            </a:r>
            <a:r>
              <a:rPr lang="en-IN" sz="2400" dirty="0"/>
              <a:t>, L</a:t>
            </a:r>
            <a:r>
              <a:rPr lang="en-IN" sz="2400" baseline="-25000" dirty="0"/>
              <a:t>0</a:t>
            </a:r>
            <a:r>
              <a:rPr lang="en-IN" sz="2400" dirty="0"/>
              <a:t>) = (0, 0) and the end point (</a:t>
            </a:r>
            <a:r>
              <a:rPr lang="en-IN" sz="2400" dirty="0" err="1"/>
              <a:t>p</a:t>
            </a:r>
            <a:r>
              <a:rPr lang="en-IN" sz="2400" baseline="-25000" dirty="0" err="1"/>
              <a:t>K</a:t>
            </a:r>
            <a:r>
              <a:rPr lang="en-IN" sz="2400" dirty="0"/>
              <a:t>, L</a:t>
            </a:r>
            <a:r>
              <a:rPr lang="en-IN" sz="2400" baseline="-25000" dirty="0"/>
              <a:t>K</a:t>
            </a:r>
            <a:r>
              <a:rPr lang="en-IN" sz="2400" dirty="0"/>
              <a:t>) = (1, 1).</a:t>
            </a:r>
          </a:p>
          <a:p>
            <a:pPr>
              <a:defRPr sz="1800" b="1" i="0"/>
            </a:pPr>
            <a:endParaRPr lang="en-IN" sz="2400" dirty="0"/>
          </a:p>
          <a:p>
            <a:pPr marL="342900" indent="-342900">
              <a:buFont typeface="Arial" panose="020B0604020202020204" pitchFamily="34" charset="0"/>
              <a:buChar char="•"/>
              <a:defRPr sz="1800" b="1" i="0"/>
            </a:pPr>
            <a:r>
              <a:rPr lang="en-IN" sz="2400" dirty="0"/>
              <a:t>Concentration Index is given by the following formula</a:t>
            </a:r>
          </a:p>
          <a:p>
            <a:pPr>
              <a:defRPr sz="1800" b="1" i="0"/>
            </a:pPr>
            <a:endParaRPr lang="en-IN" sz="2400" dirty="0"/>
          </a:p>
          <a:p>
            <a:pPr lvl="1" algn="ctr">
              <a:defRPr sz="2200" b="1" i="0"/>
            </a:pPr>
            <a:r>
              <a:rPr lang="en-IN" sz="3200" dirty="0"/>
              <a:t>CI  =  </a:t>
            </a:r>
            <a:r>
              <a:rPr lang="el-GR" sz="3200" dirty="0"/>
              <a:t>Σ </a:t>
            </a:r>
            <a:r>
              <a:rPr lang="en-IN" sz="3200" dirty="0"/>
              <a:t>(p</a:t>
            </a:r>
            <a:r>
              <a:rPr lang="en-IN" sz="3200" baseline="-25000" dirty="0"/>
              <a:t>{k-1}</a:t>
            </a:r>
            <a:r>
              <a:rPr lang="en-IN" sz="3200" dirty="0"/>
              <a:t>L</a:t>
            </a:r>
            <a:r>
              <a:rPr lang="en-IN" sz="3200" baseline="-25000" dirty="0"/>
              <a:t>k </a:t>
            </a:r>
            <a:r>
              <a:rPr lang="en-IN" sz="3200" dirty="0"/>
              <a:t>−  p</a:t>
            </a:r>
            <a:r>
              <a:rPr lang="en-IN" sz="3200" baseline="-25000" dirty="0"/>
              <a:t>k </a:t>
            </a:r>
            <a:r>
              <a:rPr lang="en-IN" sz="3200" dirty="0"/>
              <a:t>L</a:t>
            </a:r>
            <a:r>
              <a:rPr lang="en-IN" sz="3200" baseline="-25000" dirty="0"/>
              <a:t>{k−1}</a:t>
            </a:r>
            <a:r>
              <a:rPr lang="en-IN" sz="3200" dirty="0"/>
              <a:t>)</a:t>
            </a:r>
          </a:p>
          <a:p>
            <a:pPr lvl="1" algn="ctr">
              <a:defRPr sz="2200" b="1" i="0"/>
            </a:pPr>
            <a:endParaRPr lang="en-IN" sz="2800" baseline="-25000" dirty="0"/>
          </a:p>
          <a:p>
            <a:pPr lvl="1">
              <a:defRPr sz="2200" b="1" i="0"/>
            </a:pPr>
            <a:endParaRPr lang="en-IN" sz="2400" dirty="0"/>
          </a:p>
          <a:p>
            <a:pPr>
              <a:defRPr sz="1800" b="1" i="0"/>
            </a:pPr>
            <a:r>
              <a:rPr lang="en-IN" sz="20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063DF1-B686-AAC5-E99E-2D87760F5930}"/>
              </a:ext>
            </a:extLst>
          </p:cNvPr>
          <p:cNvPicPr>
            <a:picLocks noChangeAspect="1"/>
          </p:cNvPicPr>
          <p:nvPr/>
        </p:nvPicPr>
        <p:blipFill>
          <a:blip r:embed="rId2"/>
          <a:stretch>
            <a:fillRect/>
          </a:stretch>
        </p:blipFill>
        <p:spPr>
          <a:xfrm>
            <a:off x="1018422" y="655666"/>
            <a:ext cx="7689953" cy="6202334"/>
          </a:xfrm>
          <a:prstGeom prst="rect">
            <a:avLst/>
          </a:prstGeom>
        </p:spPr>
      </p:pic>
      <p:sp>
        <p:nvSpPr>
          <p:cNvPr id="36" name="Content Placeholder 2"/>
          <p:cNvSpPr txBox="1">
            <a:spLocks/>
          </p:cNvSpPr>
          <p:nvPr/>
        </p:nvSpPr>
        <p:spPr>
          <a:xfrm>
            <a:off x="1" y="161753"/>
            <a:ext cx="9144000" cy="655666"/>
          </a:xfrm>
          <a:prstGeom prst="rect">
            <a:avLst/>
          </a:prstGeom>
        </p:spPr>
        <p:txBody>
          <a:bodyPr>
            <a:normAutofit/>
          </a:bodyPr>
          <a:lst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2000" dirty="0">
                <a:latin typeface="Times New Roman"/>
              </a:rPr>
              <a:t>Area under L(p) equals (1/μ) E[ y(1-R) ]: rectangles of width (1−R) weighted by y.</a:t>
            </a:r>
          </a:p>
        </p:txBody>
      </p:sp>
    </p:spTree>
    <p:extLst>
      <p:ext uri="{BB962C8B-B14F-4D97-AF65-F5344CB8AC3E}">
        <p14:creationId xmlns:p14="http://schemas.microsoft.com/office/powerpoint/2010/main" val="2649202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619E9506-7C2E-428B-A3CC-38D948BA0639}"/>
              </a:ext>
            </a:extLst>
          </p:cNvPr>
          <p:cNvSpPr>
            <a:spLocks noGrp="1"/>
          </p:cNvSpPr>
          <p:nvPr>
            <p:ph type="title"/>
          </p:nvPr>
        </p:nvSpPr>
        <p:spPr>
          <a:xfrm>
            <a:off x="0" y="0"/>
            <a:ext cx="9144000" cy="1125538"/>
          </a:xfrm>
          <a:noFill/>
        </p:spPr>
        <p:txBody>
          <a:bodyPr>
            <a:normAutofit/>
          </a:bodyPr>
          <a:lstStyle/>
          <a:p>
            <a:pPr>
              <a:defRPr/>
            </a:pPr>
            <a:r>
              <a:rPr lang="en-US" altLang="en-US" sz="4400" b="1" dirty="0">
                <a:ea typeface="ＭＳ Ｐゴシック" panose="020B0600070205080204" pitchFamily="34" charset="-128"/>
              </a:rPr>
              <a:t>Readings</a:t>
            </a:r>
          </a:p>
        </p:txBody>
      </p:sp>
      <p:sp>
        <p:nvSpPr>
          <p:cNvPr id="6147" name="Content Placeholder 2">
            <a:extLst>
              <a:ext uri="{FF2B5EF4-FFF2-40B4-BE49-F238E27FC236}">
                <a16:creationId xmlns:a16="http://schemas.microsoft.com/office/drawing/2014/main" id="{9D2069B6-0395-334F-AB51-2C7370ACFACE}"/>
              </a:ext>
            </a:extLst>
          </p:cNvPr>
          <p:cNvSpPr>
            <a:spLocks noGrp="1"/>
          </p:cNvSpPr>
          <p:nvPr>
            <p:ph idx="1"/>
          </p:nvPr>
        </p:nvSpPr>
        <p:spPr/>
        <p:txBody>
          <a:bodyPr>
            <a:normAutofit/>
          </a:bodyPr>
          <a:lstStyle/>
          <a:p>
            <a:pPr algn="just"/>
            <a:r>
              <a:rPr lang="en-US" altLang="en-US" dirty="0">
                <a:solidFill>
                  <a:srgbClr val="000000"/>
                </a:solidFill>
                <a:latin typeface="+mj-lt"/>
                <a:ea typeface="ＭＳ Ｐゴシック" panose="020B0600070205080204" pitchFamily="34" charset="-128"/>
              </a:rPr>
              <a:t>Wagstaff, Adam &amp; Paci, </a:t>
            </a:r>
            <a:r>
              <a:rPr lang="en-US" altLang="en-US" dirty="0" err="1">
                <a:solidFill>
                  <a:srgbClr val="000000"/>
                </a:solidFill>
                <a:latin typeface="+mj-lt"/>
                <a:ea typeface="ＭＳ Ｐゴシック" panose="020B0600070205080204" pitchFamily="34" charset="-128"/>
              </a:rPr>
              <a:t>Pierella</a:t>
            </a:r>
            <a:r>
              <a:rPr lang="en-US" altLang="en-US" dirty="0">
                <a:solidFill>
                  <a:srgbClr val="000000"/>
                </a:solidFill>
                <a:latin typeface="+mj-lt"/>
                <a:ea typeface="ＭＳ Ｐゴシック" panose="020B0600070205080204" pitchFamily="34" charset="-128"/>
              </a:rPr>
              <a:t> &amp; van Doorslaer, Eddy, 1991. "</a:t>
            </a:r>
            <a:r>
              <a:rPr lang="en-US" altLang="en-US" b="1" dirty="0">
                <a:solidFill>
                  <a:srgbClr val="000000"/>
                </a:solidFill>
                <a:latin typeface="+mj-lt"/>
                <a:ea typeface="ＭＳ Ｐゴシック" panose="020B0600070205080204" pitchFamily="34" charset="-128"/>
                <a:hlinkClick r:id="rId3"/>
              </a:rPr>
              <a:t>On the measurement of inequalities in health</a:t>
            </a:r>
            <a:r>
              <a:rPr lang="en-US" altLang="en-US" dirty="0">
                <a:solidFill>
                  <a:srgbClr val="000000"/>
                </a:solidFill>
                <a:latin typeface="+mj-lt"/>
                <a:ea typeface="ＭＳ Ｐゴシック" panose="020B0600070205080204" pitchFamily="34" charset="-128"/>
              </a:rPr>
              <a:t>," </a:t>
            </a:r>
            <a:r>
              <a:rPr lang="en-US" altLang="en-US" dirty="0">
                <a:solidFill>
                  <a:srgbClr val="000000"/>
                </a:solidFill>
                <a:latin typeface="+mj-lt"/>
                <a:ea typeface="ＭＳ Ｐゴシック" panose="020B0600070205080204" pitchFamily="34" charset="-128"/>
                <a:hlinkClick r:id="rId4"/>
              </a:rPr>
              <a:t>Social Science &amp; Medicine</a:t>
            </a:r>
            <a:r>
              <a:rPr lang="en-US" altLang="en-US" dirty="0">
                <a:solidFill>
                  <a:srgbClr val="000000"/>
                </a:solidFill>
                <a:latin typeface="+mj-lt"/>
                <a:ea typeface="ＭＳ Ｐゴシック" panose="020B0600070205080204" pitchFamily="34" charset="-128"/>
              </a:rPr>
              <a:t>, Elsevier, vol. 33(5), pages 545-557</a:t>
            </a:r>
          </a:p>
          <a:p>
            <a:pPr algn="just"/>
            <a:endParaRPr lang="en-US" altLang="en-US" dirty="0">
              <a:solidFill>
                <a:srgbClr val="000000"/>
              </a:solidFill>
              <a:latin typeface="+mj-lt"/>
              <a:ea typeface="ＭＳ Ｐゴシック" panose="020B0600070205080204" pitchFamily="34" charset="-128"/>
            </a:endParaRPr>
          </a:p>
          <a:p>
            <a:pPr algn="just"/>
            <a:r>
              <a:rPr lang="en-GB" altLang="en-US" dirty="0">
                <a:solidFill>
                  <a:schemeClr val="tx2"/>
                </a:solidFill>
                <a:latin typeface="+mj-lt"/>
                <a:ea typeface="ＭＳ Ｐゴシック" panose="020B0600070205080204" pitchFamily="34" charset="-128"/>
              </a:rPr>
              <a:t>Owen O’Donnell, Eddy van Doorslaer, Adam Wagstaff and Magnus </a:t>
            </a:r>
            <a:r>
              <a:rPr lang="en-GB" altLang="en-US" dirty="0" err="1">
                <a:solidFill>
                  <a:schemeClr val="tx2"/>
                </a:solidFill>
                <a:latin typeface="+mj-lt"/>
                <a:ea typeface="ＭＳ Ｐゴシック" panose="020B0600070205080204" pitchFamily="34" charset="-128"/>
              </a:rPr>
              <a:t>Lindelow</a:t>
            </a:r>
            <a:r>
              <a:rPr lang="en-GB" altLang="en-US" dirty="0">
                <a:solidFill>
                  <a:schemeClr val="tx2"/>
                </a:solidFill>
                <a:latin typeface="+mj-lt"/>
                <a:ea typeface="ＭＳ Ｐゴシック" panose="020B0600070205080204" pitchFamily="34" charset="-128"/>
              </a:rPr>
              <a:t>, </a:t>
            </a:r>
            <a:r>
              <a:rPr lang="en-US" altLang="en-US" dirty="0">
                <a:latin typeface="+mj-lt"/>
                <a:ea typeface="ＭＳ Ｐゴシック" panose="020B0600070205080204" pitchFamily="34" charset="-128"/>
              </a:rPr>
              <a:t>"</a:t>
            </a:r>
            <a:r>
              <a:rPr lang="en-GB" altLang="en-US" dirty="0" err="1">
                <a:solidFill>
                  <a:schemeClr val="tx2"/>
                </a:solidFill>
                <a:latin typeface="+mj-lt"/>
                <a:ea typeface="ＭＳ Ｐゴシック" panose="020B0600070205080204" pitchFamily="34" charset="-128"/>
              </a:rPr>
              <a:t>Analyzing</a:t>
            </a:r>
            <a:r>
              <a:rPr lang="en-GB" altLang="en-US" dirty="0">
                <a:solidFill>
                  <a:schemeClr val="tx2"/>
                </a:solidFill>
                <a:latin typeface="+mj-lt"/>
                <a:ea typeface="ＭＳ Ｐゴシック" panose="020B0600070205080204" pitchFamily="34" charset="-128"/>
              </a:rPr>
              <a:t> Health Equity Using Household Survey Data” The World Bank, Washington DC, 2008, </a:t>
            </a:r>
            <a:r>
              <a:rPr lang="en-GB" altLang="en-US" dirty="0">
                <a:solidFill>
                  <a:schemeClr val="tx2"/>
                </a:solidFill>
                <a:latin typeface="+mj-lt"/>
                <a:ea typeface="ＭＳ Ｐゴシック" panose="020B0600070205080204" pitchFamily="34" charset="-128"/>
                <a:hlinkClick r:id="rId5"/>
              </a:rPr>
              <a:t>www.worldbank.org/analyzinghealthequity</a:t>
            </a:r>
            <a:endParaRPr lang="en-GB" altLang="en-US" dirty="0">
              <a:solidFill>
                <a:schemeClr val="tx2"/>
              </a:solidFill>
              <a:latin typeface="+mj-lt"/>
              <a:ea typeface="ＭＳ Ｐゴシック" panose="020B0600070205080204" pitchFamily="34" charset="-128"/>
            </a:endParaRPr>
          </a:p>
          <a:p>
            <a:pPr algn="just"/>
            <a:endParaRPr lang="en-GB" altLang="en-US" dirty="0">
              <a:solidFill>
                <a:schemeClr val="tx2"/>
              </a:solidFill>
              <a:latin typeface="+mj-lt"/>
              <a:ea typeface="ＭＳ Ｐゴシック" panose="020B0600070205080204" pitchFamily="34" charset="-128"/>
            </a:endParaRPr>
          </a:p>
          <a:p>
            <a:pPr algn="just"/>
            <a:endParaRPr lang="en-GB" altLang="en-US" dirty="0">
              <a:solidFill>
                <a:schemeClr val="tx2"/>
              </a:solidFill>
              <a:latin typeface="+mj-lt"/>
              <a:ea typeface="ＭＳ Ｐゴシック" panose="020B0600070205080204" pitchFamily="34" charset="-128"/>
            </a:endParaRPr>
          </a:p>
          <a:p>
            <a:pPr algn="just"/>
            <a:endParaRPr lang="en-US" altLang="en-US" dirty="0">
              <a:latin typeface="+mj-lt"/>
              <a:ea typeface="ＭＳ Ｐゴシック" panose="020B0600070205080204" pitchFamily="34" charset="-128"/>
            </a:endParaRPr>
          </a:p>
          <a:p>
            <a:pPr algn="just"/>
            <a:endParaRPr lang="en-US" altLang="en-US" dirty="0">
              <a:latin typeface="+mj-lt"/>
              <a:ea typeface="ＭＳ Ｐゴシック" panose="020B0600070205080204" pitchFamily="34" charset="-128"/>
            </a:endParaRPr>
          </a:p>
        </p:txBody>
      </p:sp>
      <p:sp>
        <p:nvSpPr>
          <p:cNvPr id="6148" name="Slide Number Placeholder 4">
            <a:extLst>
              <a:ext uri="{FF2B5EF4-FFF2-40B4-BE49-F238E27FC236}">
                <a16:creationId xmlns:a16="http://schemas.microsoft.com/office/drawing/2014/main" id="{4D6688B0-B6F8-3D9B-346A-8AD73E403AF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rgbClr val="000099"/>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rgbClr val="000099"/>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rgbClr val="000099"/>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rgbClr val="000099"/>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rgbClr val="000099"/>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rgbClr val="000099"/>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rgbClr val="000099"/>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rgbClr val="000099"/>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rgbClr val="000099"/>
                </a:solidFill>
                <a:latin typeface="Calibri" panose="020F0502020204030204" pitchFamily="34" charset="0"/>
                <a:ea typeface="ＭＳ Ｐゴシック" panose="020B0600070205080204" pitchFamily="34" charset="-128"/>
              </a:defRPr>
            </a:lvl9pPr>
          </a:lstStyle>
          <a:p>
            <a:pPr>
              <a:spcBef>
                <a:spcPct val="0"/>
              </a:spcBef>
              <a:buFontTx/>
              <a:buNone/>
            </a:pPr>
            <a:fld id="{451FD45E-464D-45F5-BBFB-3202BFC45CC4}" type="slidenum">
              <a:rPr lang="en-GB" altLang="en-US" sz="1400">
                <a:solidFill>
                  <a:schemeClr val="tx1"/>
                </a:solidFill>
                <a:latin typeface="Arial" panose="020B0604020202020204" pitchFamily="34" charset="0"/>
              </a:rPr>
              <a:pPr>
                <a:spcBef>
                  <a:spcPct val="0"/>
                </a:spcBef>
                <a:buFontTx/>
                <a:buNone/>
              </a:pPr>
              <a:t>21</a:t>
            </a:fld>
            <a:endParaRPr lang="en-GB" altLang="en-US" sz="1400">
              <a:solidFill>
                <a:schemeClr val="tx1"/>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Convenient covariance Method</a:t>
            </a:r>
            <a:endParaRPr b="1" dirty="0">
              <a:latin typeface="Times New Roman"/>
            </a:endParaRPr>
          </a:p>
        </p:txBody>
      </p:sp>
      <p:sp>
        <p:nvSpPr>
          <p:cNvPr id="3" name="Content Placeholder 2"/>
          <p:cNvSpPr>
            <a:spLocks noGrp="1"/>
          </p:cNvSpPr>
          <p:nvPr>
            <p:ph idx="1"/>
          </p:nvPr>
        </p:nvSpPr>
        <p:spPr/>
        <p:txBody>
          <a:bodyPr>
            <a:normAutofit/>
          </a:bodyPr>
          <a:lstStyle/>
          <a:p>
            <a:pPr>
              <a:lnSpc>
                <a:spcPct val="150000"/>
              </a:lnSpc>
            </a:pPr>
            <a:r>
              <a:rPr sz="2800" dirty="0">
                <a:latin typeface="Times New Roman"/>
              </a:rPr>
              <a:t>L(p) = (1/μ) E[ y · 1{R ≤ p} ]</a:t>
            </a:r>
          </a:p>
          <a:p>
            <a:pPr>
              <a:lnSpc>
                <a:spcPct val="150000"/>
              </a:lnSpc>
            </a:pPr>
            <a:r>
              <a:rPr sz="2800" dirty="0">
                <a:latin typeface="Times New Roman"/>
              </a:rPr>
              <a:t>∫₀¹ L(p) </a:t>
            </a:r>
            <a:r>
              <a:rPr sz="2800" dirty="0" err="1">
                <a:latin typeface="Times New Roman"/>
              </a:rPr>
              <a:t>dp</a:t>
            </a:r>
            <a:r>
              <a:rPr sz="2800" dirty="0">
                <a:latin typeface="Times New Roman"/>
              </a:rPr>
              <a:t> = (1/μ) E[ y(1 − R) ]  (swap expectation and integral; ∫ 1{</a:t>
            </a:r>
            <a:r>
              <a:rPr sz="2800" dirty="0" err="1">
                <a:latin typeface="Times New Roman"/>
              </a:rPr>
              <a:t>R≤p</a:t>
            </a:r>
            <a:r>
              <a:rPr sz="2800" dirty="0">
                <a:latin typeface="Times New Roman"/>
              </a:rPr>
              <a:t>} </a:t>
            </a:r>
            <a:r>
              <a:rPr sz="2800" dirty="0" err="1">
                <a:latin typeface="Times New Roman"/>
              </a:rPr>
              <a:t>dp</a:t>
            </a:r>
            <a:r>
              <a:rPr sz="2800" dirty="0">
                <a:latin typeface="Times New Roman"/>
              </a:rPr>
              <a:t> = 1−R)</a:t>
            </a:r>
          </a:p>
          <a:p>
            <a:pPr>
              <a:lnSpc>
                <a:spcPct val="150000"/>
              </a:lnSpc>
            </a:pPr>
            <a:r>
              <a:rPr sz="2800" dirty="0">
                <a:latin typeface="Times New Roman"/>
              </a:rPr>
              <a:t>CI = 1 − 2∫₀¹ L(p) </a:t>
            </a:r>
            <a:r>
              <a:rPr sz="2800" dirty="0" err="1">
                <a:latin typeface="Times New Roman"/>
              </a:rPr>
              <a:t>dp</a:t>
            </a:r>
            <a:r>
              <a:rPr sz="2800" dirty="0">
                <a:latin typeface="Times New Roman"/>
              </a:rPr>
              <a:t> = (2/μ)( E[</a:t>
            </a:r>
            <a:r>
              <a:rPr sz="2800" dirty="0" err="1">
                <a:latin typeface="Times New Roman"/>
              </a:rPr>
              <a:t>yR</a:t>
            </a:r>
            <a:r>
              <a:rPr sz="2800" dirty="0">
                <a:latin typeface="Times New Roman"/>
              </a:rPr>
              <a:t>] − 1/2·E[y] )</a:t>
            </a:r>
            <a:endParaRPr lang="en-IN" sz="2800" dirty="0">
              <a:latin typeface="Times New Roman"/>
            </a:endParaRPr>
          </a:p>
          <a:p>
            <a:pPr marL="0" indent="0">
              <a:lnSpc>
                <a:spcPct val="150000"/>
              </a:lnSpc>
              <a:buNone/>
            </a:pPr>
            <a:r>
              <a:rPr lang="en-IN" sz="2800" dirty="0">
                <a:latin typeface="Times New Roman"/>
              </a:rPr>
              <a:t>        </a:t>
            </a:r>
            <a:r>
              <a:rPr sz="2800" dirty="0">
                <a:latin typeface="Times New Roman"/>
              </a:rPr>
              <a:t> </a:t>
            </a:r>
            <a:r>
              <a:rPr lang="en-IN" sz="2800" dirty="0">
                <a:latin typeface="Times New Roman"/>
              </a:rPr>
              <a:t>CI</a:t>
            </a:r>
            <a:r>
              <a:rPr sz="2800" dirty="0">
                <a:latin typeface="Times New Roman"/>
              </a:rPr>
              <a:t>= (2/μ) </a:t>
            </a:r>
            <a:r>
              <a:rPr sz="2800" dirty="0" err="1">
                <a:latin typeface="Times New Roman"/>
              </a:rPr>
              <a:t>cov</a:t>
            </a:r>
            <a:r>
              <a:rPr sz="2800" dirty="0">
                <a:latin typeface="Times New Roman"/>
              </a:rPr>
              <a:t>(y, 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2872"/>
            <a:ext cx="8229600" cy="4713293"/>
          </a:xfrm>
        </p:spPr>
        <p:txBody>
          <a:bodyPr>
            <a:normAutofit fontScale="92500" lnSpcReduction="20000"/>
          </a:bodyPr>
          <a:lstStyle/>
          <a:p>
            <a:pPr>
              <a:lnSpc>
                <a:spcPct val="150000"/>
              </a:lnSpc>
            </a:pPr>
            <a:r>
              <a:rPr sz="2800" dirty="0">
                <a:latin typeface="Times New Roman"/>
              </a:rPr>
              <a:t>Let </a:t>
            </a:r>
            <a:r>
              <a:rPr lang="el-GR" sz="2800" dirty="0"/>
              <a:t>σ²</a:t>
            </a:r>
            <a:r>
              <a:rPr lang="en-IN" sz="2800" baseline="-25000" dirty="0"/>
              <a:t>R </a:t>
            </a:r>
            <a:r>
              <a:rPr sz="2800" dirty="0">
                <a:latin typeface="Times New Roman"/>
              </a:rPr>
              <a:t>= Var(R) and define </a:t>
            </a:r>
            <a:r>
              <a:rPr sz="2800" dirty="0" err="1">
                <a:latin typeface="Times New Roman"/>
              </a:rPr>
              <a:t>lhs</a:t>
            </a:r>
            <a:r>
              <a:rPr sz="2800" dirty="0">
                <a:latin typeface="Times New Roman"/>
              </a:rPr>
              <a:t>ᵢ = (2 σ²</a:t>
            </a:r>
            <a:r>
              <a:rPr sz="2800" baseline="-25000" dirty="0">
                <a:latin typeface="Times New Roman"/>
              </a:rPr>
              <a:t>R</a:t>
            </a:r>
            <a:r>
              <a:rPr sz="2800" dirty="0">
                <a:latin typeface="Times New Roman"/>
              </a:rPr>
              <a:t> / μ) yᵢ</a:t>
            </a:r>
          </a:p>
          <a:p>
            <a:pPr>
              <a:lnSpc>
                <a:spcPct val="150000"/>
              </a:lnSpc>
            </a:pPr>
            <a:r>
              <a:rPr sz="2800" dirty="0">
                <a:latin typeface="Times New Roman"/>
              </a:rPr>
              <a:t>OLS: </a:t>
            </a:r>
            <a:r>
              <a:rPr sz="2800" dirty="0" err="1">
                <a:latin typeface="Times New Roman"/>
              </a:rPr>
              <a:t>lhs</a:t>
            </a:r>
            <a:r>
              <a:rPr sz="2800" dirty="0">
                <a:latin typeface="Times New Roman"/>
              </a:rPr>
              <a:t>ᵢ = α + β Rᵢ + εᵢ </a:t>
            </a:r>
            <a:endParaRPr lang="en-IN" sz="2800" dirty="0">
              <a:latin typeface="Times New Roman"/>
            </a:endParaRPr>
          </a:p>
          <a:p>
            <a:pPr marL="0" indent="0">
              <a:lnSpc>
                <a:spcPct val="150000"/>
              </a:lnSpc>
              <a:buNone/>
            </a:pPr>
            <a:r>
              <a:rPr lang="en-IN" sz="2800" dirty="0">
                <a:latin typeface="Times New Roman"/>
              </a:rPr>
              <a:t>   </a:t>
            </a:r>
            <a:r>
              <a:rPr sz="2800" dirty="0">
                <a:latin typeface="Times New Roman"/>
              </a:rPr>
              <a:t>⇒ β = </a:t>
            </a:r>
            <a:r>
              <a:rPr sz="2800" dirty="0" err="1">
                <a:latin typeface="Times New Roman"/>
              </a:rPr>
              <a:t>cov</a:t>
            </a:r>
            <a:r>
              <a:rPr sz="2800" dirty="0">
                <a:latin typeface="Times New Roman"/>
              </a:rPr>
              <a:t>(</a:t>
            </a:r>
            <a:r>
              <a:rPr sz="2800" dirty="0" err="1">
                <a:latin typeface="Times New Roman"/>
              </a:rPr>
              <a:t>lhs</a:t>
            </a:r>
            <a:r>
              <a:rPr sz="2800" dirty="0">
                <a:latin typeface="Times New Roman"/>
              </a:rPr>
              <a:t>,</a:t>
            </a:r>
            <a:r>
              <a:rPr lang="en-IN" sz="2800" dirty="0">
                <a:latin typeface="Times New Roman"/>
              </a:rPr>
              <a:t> </a:t>
            </a:r>
            <a:r>
              <a:rPr sz="2800" dirty="0">
                <a:latin typeface="Times New Roman"/>
              </a:rPr>
              <a:t>R)/Var(R) </a:t>
            </a:r>
            <a:endParaRPr lang="en-IN" sz="2800" dirty="0">
              <a:latin typeface="Times New Roman"/>
            </a:endParaRPr>
          </a:p>
          <a:p>
            <a:pPr marL="0" indent="0">
              <a:lnSpc>
                <a:spcPct val="150000"/>
              </a:lnSpc>
              <a:buNone/>
            </a:pPr>
            <a:r>
              <a:rPr lang="en-IN" sz="2800" dirty="0">
                <a:latin typeface="Times New Roman"/>
              </a:rPr>
              <a:t>   </a:t>
            </a:r>
            <a:r>
              <a:rPr sz="2800" dirty="0">
                <a:latin typeface="Times New Roman"/>
              </a:rPr>
              <a:t>= (2/μ) </a:t>
            </a:r>
            <a:r>
              <a:rPr sz="2800" dirty="0" err="1">
                <a:latin typeface="Times New Roman"/>
              </a:rPr>
              <a:t>cov</a:t>
            </a:r>
            <a:r>
              <a:rPr sz="2800" dirty="0">
                <a:latin typeface="Times New Roman"/>
              </a:rPr>
              <a:t>(y,</a:t>
            </a:r>
            <a:r>
              <a:rPr lang="en-IN" sz="2800" dirty="0">
                <a:latin typeface="Times New Roman"/>
              </a:rPr>
              <a:t> </a:t>
            </a:r>
            <a:r>
              <a:rPr sz="2800" dirty="0">
                <a:latin typeface="Times New Roman"/>
              </a:rPr>
              <a:t>R) = CI</a:t>
            </a:r>
          </a:p>
          <a:p>
            <a:pPr>
              <a:lnSpc>
                <a:spcPct val="150000"/>
              </a:lnSpc>
            </a:pPr>
            <a:r>
              <a:rPr lang="en-US" sz="2800" dirty="0">
                <a:latin typeface="Times New Roman"/>
              </a:rPr>
              <a:t>OLS estimate of β is the estimate of the concentration index.</a:t>
            </a:r>
          </a:p>
          <a:p>
            <a:pPr>
              <a:lnSpc>
                <a:spcPct val="150000"/>
              </a:lnSpc>
            </a:pPr>
            <a:r>
              <a:rPr lang="en-US" sz="2800" dirty="0">
                <a:latin typeface="Times New Roman"/>
              </a:rPr>
              <a:t>Also provides, </a:t>
            </a:r>
            <a:r>
              <a:rPr lang="en-US" sz="2800" b="1" dirty="0">
                <a:latin typeface="Times New Roman"/>
              </a:rPr>
              <a:t>standard error and confidence interval </a:t>
            </a:r>
            <a:r>
              <a:rPr lang="en-US" sz="2800" dirty="0">
                <a:latin typeface="Times New Roman"/>
              </a:rPr>
              <a:t>of CI.</a:t>
            </a:r>
          </a:p>
        </p:txBody>
      </p:sp>
      <p:sp>
        <p:nvSpPr>
          <p:cNvPr id="4" name="Title 1"/>
          <p:cNvSpPr txBox="1">
            <a:spLocks/>
          </p:cNvSpPr>
          <p:nvPr/>
        </p:nvSpPr>
        <p:spPr>
          <a:xfrm>
            <a:off x="572412" y="50797"/>
            <a:ext cx="7772400" cy="1362075"/>
          </a:xfrm>
          <a:prstGeom prst="rect">
            <a:avLst/>
          </a:prstGeom>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b="1" dirty="0">
                <a:latin typeface="Times New Roman"/>
              </a:rPr>
              <a:t>Convenient Regression Method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a:extLst>
              <a:ext uri="{FF2B5EF4-FFF2-40B4-BE49-F238E27FC236}">
                <a16:creationId xmlns:a16="http://schemas.microsoft.com/office/drawing/2014/main" id="{C84CB446-8238-16FC-B841-B0489ACF57FD}"/>
              </a:ext>
            </a:extLst>
          </p:cNvPr>
          <p:cNvSpPr>
            <a:spLocks noGrp="1" noChangeArrowheads="1"/>
          </p:cNvSpPr>
          <p:nvPr>
            <p:ph type="title"/>
          </p:nvPr>
        </p:nvSpPr>
        <p:spPr>
          <a:xfrm>
            <a:off x="673100" y="0"/>
            <a:ext cx="7772400" cy="1143000"/>
          </a:xfrm>
        </p:spPr>
        <p:txBody>
          <a:bodyPr>
            <a:normAutofit fontScale="90000"/>
          </a:bodyPr>
          <a:lstStyle/>
          <a:p>
            <a:r>
              <a:rPr lang="en-US" altLang="en-US" sz="4000" b="1" dirty="0"/>
              <a:t>Properties of the concentration index</a:t>
            </a:r>
          </a:p>
        </p:txBody>
      </p:sp>
      <p:sp>
        <p:nvSpPr>
          <p:cNvPr id="579587" name="Rectangle 3">
            <a:extLst>
              <a:ext uri="{FF2B5EF4-FFF2-40B4-BE49-F238E27FC236}">
                <a16:creationId xmlns:a16="http://schemas.microsoft.com/office/drawing/2014/main" id="{C26D5452-4D08-E174-BA34-0B53A01135DB}"/>
              </a:ext>
            </a:extLst>
          </p:cNvPr>
          <p:cNvSpPr>
            <a:spLocks noGrp="1" noChangeArrowheads="1"/>
          </p:cNvSpPr>
          <p:nvPr>
            <p:ph type="body" idx="1"/>
          </p:nvPr>
        </p:nvSpPr>
        <p:spPr>
          <a:xfrm>
            <a:off x="540328" y="1309271"/>
            <a:ext cx="8326582" cy="5116512"/>
          </a:xfrm>
        </p:spPr>
        <p:txBody>
          <a:bodyPr/>
          <a:lstStyle/>
          <a:p>
            <a:pPr>
              <a:lnSpc>
                <a:spcPct val="90000"/>
              </a:lnSpc>
            </a:pPr>
            <a:r>
              <a:rPr lang="en-US" altLang="en-US" dirty="0"/>
              <a:t>D</a:t>
            </a:r>
            <a:r>
              <a:rPr lang="en-US" altLang="en-US" sz="2400" dirty="0"/>
              <a:t>epend on the measurement characteristics of the health variable of interest.</a:t>
            </a:r>
          </a:p>
          <a:p>
            <a:pPr>
              <a:lnSpc>
                <a:spcPct val="90000"/>
              </a:lnSpc>
            </a:pPr>
            <a:r>
              <a:rPr lang="en-US" altLang="en-US" sz="2400" dirty="0"/>
              <a:t>Strictly, requires a ratio-scaled, non-negative variable.</a:t>
            </a:r>
          </a:p>
          <a:p>
            <a:pPr>
              <a:lnSpc>
                <a:spcPct val="90000"/>
              </a:lnSpc>
            </a:pPr>
            <a:r>
              <a:rPr lang="en-US" altLang="en-US" sz="2400" dirty="0"/>
              <a:t>Invariant to multiplication by a scalar.</a:t>
            </a:r>
          </a:p>
          <a:p>
            <a:pPr>
              <a:lnSpc>
                <a:spcPct val="90000"/>
              </a:lnSpc>
            </a:pPr>
            <a:r>
              <a:rPr lang="en-US" altLang="en-US" sz="2400" dirty="0"/>
              <a:t>But not to any linear transformation.</a:t>
            </a:r>
          </a:p>
          <a:p>
            <a:pPr>
              <a:lnSpc>
                <a:spcPct val="90000"/>
              </a:lnSpc>
            </a:pPr>
            <a:r>
              <a:rPr lang="en-US" altLang="en-US" sz="2400" dirty="0"/>
              <a:t>So, not appropriate for an interval-scaled variable with an arbitrary mean.</a:t>
            </a:r>
          </a:p>
          <a:p>
            <a:pPr>
              <a:lnSpc>
                <a:spcPct val="90000"/>
              </a:lnSpc>
            </a:pPr>
            <a:r>
              <a:rPr lang="en-US" altLang="en-US" sz="2400" dirty="0"/>
              <a:t>This can be problematic for measures of health that are often ordinal.</a:t>
            </a:r>
          </a:p>
          <a:p>
            <a:pPr>
              <a:lnSpc>
                <a:spcPct val="90000"/>
              </a:lnSpc>
            </a:pPr>
            <a:r>
              <a:rPr lang="en-US" altLang="en-US" sz="2400" dirty="0"/>
              <a:t>If the variable is dichotomous, C lies in the interval (</a:t>
            </a:r>
            <a:r>
              <a:rPr lang="el-GR" altLang="en-US" sz="2400" dirty="0"/>
              <a:t>μ-1, 1-μ</a:t>
            </a:r>
            <a:r>
              <a:rPr lang="en-US" altLang="en-US" sz="2400" dirty="0"/>
              <a:t>) (Wagstaff, 2005): </a:t>
            </a:r>
          </a:p>
          <a:p>
            <a:pPr lvl="1">
              <a:lnSpc>
                <a:spcPct val="90000"/>
              </a:lnSpc>
            </a:pPr>
            <a:r>
              <a:rPr lang="en-US" altLang="en-US" sz="2400" dirty="0"/>
              <a:t>So, the interval shrinks as the mean rises. </a:t>
            </a:r>
          </a:p>
          <a:p>
            <a:pPr lvl="1">
              <a:lnSpc>
                <a:spcPct val="90000"/>
              </a:lnSpc>
            </a:pPr>
            <a:r>
              <a:rPr lang="en-US" altLang="en-US" sz="2400" dirty="0"/>
              <a:t>Normalize by dividing C by 1-</a:t>
            </a:r>
            <a:r>
              <a:rPr lang="el-GR" altLang="en-US" sz="2400" dirty="0"/>
              <a:t>μ</a:t>
            </a:r>
            <a:r>
              <a:rPr lang="en-IN" altLang="en-US" sz="2400" dirty="0"/>
              <a:t>.</a:t>
            </a:r>
            <a:endParaRPr lang="en-US" alt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4350" y="546093"/>
            <a:ext cx="8575963" cy="584775"/>
          </a:xfrm>
          <a:prstGeom prst="rect">
            <a:avLst/>
          </a:prstGeom>
          <a:noFill/>
        </p:spPr>
        <p:txBody>
          <a:bodyPr wrap="square">
            <a:spAutoFit/>
          </a:bodyPr>
          <a:lstStyle/>
          <a:p>
            <a:pPr algn="l"/>
            <a:r>
              <a:rPr sz="3200" b="1" dirty="0">
                <a:latin typeface="Times New Roman"/>
              </a:rPr>
              <a:t>CI bounds for a dichotomous variable: </a:t>
            </a:r>
            <a:r>
              <a:rPr sz="3200" b="1" dirty="0" err="1">
                <a:latin typeface="Times New Roman"/>
              </a:rPr>
              <a:t>Cmax</a:t>
            </a:r>
            <a:endParaRPr sz="3200" b="1" dirty="0">
              <a:latin typeface="Times New Roman"/>
            </a:endParaRPr>
          </a:p>
        </p:txBody>
      </p:sp>
      <p:sp>
        <p:nvSpPr>
          <p:cNvPr id="3" name="TextBox 2"/>
          <p:cNvSpPr txBox="1"/>
          <p:nvPr/>
        </p:nvSpPr>
        <p:spPr>
          <a:xfrm>
            <a:off x="514350" y="1562100"/>
            <a:ext cx="8117032" cy="3416320"/>
          </a:xfrm>
          <a:prstGeom prst="rect">
            <a:avLst/>
          </a:prstGeom>
          <a:noFill/>
        </p:spPr>
        <p:txBody>
          <a:bodyPr wrap="square">
            <a:spAutoFit/>
          </a:bodyPr>
          <a:lstStyle/>
          <a:p>
            <a:pPr algn="l"/>
            <a:r>
              <a:rPr sz="2400" dirty="0">
                <a:latin typeface="Times New Roman"/>
              </a:rPr>
              <a:t>For a binary outcome: y ∈ {0,1}, and μ = E(y) = prevalence.</a:t>
            </a:r>
          </a:p>
          <a:p>
            <a:pPr algn="l"/>
            <a:r>
              <a:rPr sz="2400" dirty="0">
                <a:latin typeface="Times New Roman"/>
              </a:rPr>
              <a:t>Use: C = (2/μ)E(</a:t>
            </a:r>
            <a:r>
              <a:rPr sz="2400" dirty="0" err="1">
                <a:latin typeface="Times New Roman"/>
              </a:rPr>
              <a:t>yR</a:t>
            </a:r>
            <a:r>
              <a:rPr sz="2400" dirty="0">
                <a:latin typeface="Times New Roman"/>
              </a:rPr>
              <a:t>) − 1, with E(R)=1/2.</a:t>
            </a:r>
          </a:p>
          <a:p>
            <a:pPr algn="l"/>
            <a:r>
              <a:rPr sz="2400" dirty="0">
                <a:latin typeface="Times New Roman"/>
              </a:rPr>
              <a:t>To maximize CI, place all y=1 persons among the richest μ fraction.</a:t>
            </a:r>
          </a:p>
          <a:p>
            <a:pPr algn="l"/>
            <a:r>
              <a:rPr sz="2400" dirty="0">
                <a:latin typeface="Times New Roman"/>
              </a:rPr>
              <a:t>Then their ranks run from (1−μ) to 1.</a:t>
            </a:r>
          </a:p>
          <a:p>
            <a:pPr algn="l"/>
            <a:r>
              <a:rPr sz="2400" dirty="0">
                <a:latin typeface="Times New Roman"/>
              </a:rPr>
              <a:t>Average rank of the y=1 group = [(1−μ)+1]/2 = 1 − μ/2.</a:t>
            </a:r>
          </a:p>
          <a:p>
            <a:pPr algn="l"/>
            <a:r>
              <a:rPr sz="2400" dirty="0">
                <a:latin typeface="Times New Roman"/>
              </a:rPr>
              <a:t>So E(</a:t>
            </a:r>
            <a:r>
              <a:rPr sz="2400" dirty="0" err="1">
                <a:latin typeface="Times New Roman"/>
              </a:rPr>
              <a:t>yR</a:t>
            </a:r>
            <a:r>
              <a:rPr sz="2400" dirty="0">
                <a:latin typeface="Times New Roman"/>
              </a:rPr>
              <a:t>) = μ(1 − μ/2).</a:t>
            </a:r>
          </a:p>
          <a:p>
            <a:pPr algn="l"/>
            <a:r>
              <a:rPr sz="2400" dirty="0">
                <a:latin typeface="Times New Roman"/>
              </a:rPr>
              <a:t>Therefore:</a:t>
            </a:r>
          </a:p>
          <a:p>
            <a:pPr algn="l"/>
            <a:r>
              <a:rPr sz="2400" dirty="0" err="1">
                <a:latin typeface="Times New Roman"/>
              </a:rPr>
              <a:t>Cmax</a:t>
            </a:r>
            <a:r>
              <a:rPr sz="2400" dirty="0">
                <a:latin typeface="Times New Roman"/>
              </a:rPr>
              <a:t> = (2/μ)·μ(1 − μ/2) − 1 = 1 − μ.</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992" y="133293"/>
            <a:ext cx="8039958" cy="584775"/>
          </a:xfrm>
          <a:prstGeom prst="rect">
            <a:avLst/>
          </a:prstGeom>
          <a:noFill/>
        </p:spPr>
        <p:txBody>
          <a:bodyPr wrap="none">
            <a:spAutoFit/>
          </a:bodyPr>
          <a:lstStyle/>
          <a:p>
            <a:pPr algn="l"/>
            <a:r>
              <a:rPr sz="3200" b="1" dirty="0">
                <a:latin typeface="Times New Roman"/>
              </a:rPr>
              <a:t>CI bounds for a dichotomous variable: </a:t>
            </a:r>
            <a:r>
              <a:rPr sz="3200" b="1" dirty="0" err="1">
                <a:latin typeface="Times New Roman"/>
              </a:rPr>
              <a:t>Cmin</a:t>
            </a:r>
            <a:endParaRPr sz="3200" b="1" dirty="0">
              <a:latin typeface="Times New Roman"/>
            </a:endParaRPr>
          </a:p>
        </p:txBody>
      </p:sp>
      <p:sp>
        <p:nvSpPr>
          <p:cNvPr id="3" name="TextBox 2"/>
          <p:cNvSpPr txBox="1"/>
          <p:nvPr/>
        </p:nvSpPr>
        <p:spPr>
          <a:xfrm>
            <a:off x="514350" y="1228397"/>
            <a:ext cx="8229600" cy="4401205"/>
          </a:xfrm>
          <a:prstGeom prst="rect">
            <a:avLst/>
          </a:prstGeom>
          <a:noFill/>
        </p:spPr>
        <p:txBody>
          <a:bodyPr wrap="square">
            <a:spAutoFit/>
          </a:bodyPr>
          <a:lstStyle/>
          <a:p>
            <a:pPr algn="l"/>
            <a:r>
              <a:rPr sz="2800" dirty="0">
                <a:latin typeface="Times New Roman"/>
              </a:rPr>
              <a:t>To minimize CI, place all y=1 persons among the poorest μ fraction.</a:t>
            </a:r>
          </a:p>
          <a:p>
            <a:pPr algn="l"/>
            <a:r>
              <a:rPr sz="2800" dirty="0">
                <a:latin typeface="Times New Roman"/>
              </a:rPr>
              <a:t>Then their ranks run from 0 to μ.</a:t>
            </a:r>
          </a:p>
          <a:p>
            <a:pPr algn="l"/>
            <a:r>
              <a:rPr sz="2800" dirty="0">
                <a:latin typeface="Times New Roman"/>
              </a:rPr>
              <a:t>Average rank of the y=1 group = [0+μ]/2 = μ/2.</a:t>
            </a:r>
          </a:p>
          <a:p>
            <a:pPr algn="l"/>
            <a:r>
              <a:rPr sz="2800" dirty="0">
                <a:latin typeface="Times New Roman"/>
              </a:rPr>
              <a:t>So E(</a:t>
            </a:r>
            <a:r>
              <a:rPr sz="2800" dirty="0" err="1">
                <a:latin typeface="Times New Roman"/>
              </a:rPr>
              <a:t>yR</a:t>
            </a:r>
            <a:r>
              <a:rPr sz="2800" dirty="0">
                <a:latin typeface="Times New Roman"/>
              </a:rPr>
              <a:t>) = μ(μ/2) = μ²/2.</a:t>
            </a:r>
          </a:p>
          <a:p>
            <a:pPr algn="l"/>
            <a:r>
              <a:rPr sz="2800" dirty="0">
                <a:latin typeface="Times New Roman"/>
              </a:rPr>
              <a:t>Therefore:</a:t>
            </a:r>
          </a:p>
          <a:p>
            <a:pPr algn="l"/>
            <a:r>
              <a:rPr sz="2800" dirty="0" err="1">
                <a:latin typeface="Times New Roman"/>
              </a:rPr>
              <a:t>Cmin</a:t>
            </a:r>
            <a:r>
              <a:rPr sz="2800" dirty="0">
                <a:latin typeface="Times New Roman"/>
              </a:rPr>
              <a:t> = (2/μ)·(μ²/2) − 1 = μ − 1.</a:t>
            </a:r>
          </a:p>
          <a:p>
            <a:pPr algn="l"/>
            <a:r>
              <a:rPr sz="2800" dirty="0">
                <a:latin typeface="Times New Roman"/>
              </a:rPr>
              <a:t>Hence:</a:t>
            </a:r>
          </a:p>
          <a:p>
            <a:pPr algn="l"/>
            <a:r>
              <a:rPr sz="2800" dirty="0">
                <a:latin typeface="Times New Roman"/>
              </a:rPr>
              <a:t>μ − 1 ≤ C ≤ 1 − μ</a:t>
            </a:r>
          </a:p>
          <a:p>
            <a:pPr algn="l"/>
            <a:r>
              <a:rPr sz="2800" dirty="0">
                <a:latin typeface="Times New Roman"/>
              </a:rPr>
              <a:t>As μ rises, the possible range shrinks.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12422" y="270466"/>
            <a:ext cx="4070345" cy="584775"/>
          </a:xfrm>
          <a:prstGeom prst="rect">
            <a:avLst/>
          </a:prstGeom>
          <a:noFill/>
        </p:spPr>
        <p:txBody>
          <a:bodyPr wrap="none">
            <a:spAutoFit/>
          </a:bodyPr>
          <a:lstStyle/>
          <a:p>
            <a:pPr algn="l"/>
            <a:r>
              <a:rPr sz="3200" b="1" dirty="0">
                <a:latin typeface="Times New Roman"/>
              </a:rPr>
              <a:t>Numerical illustration</a:t>
            </a:r>
          </a:p>
        </p:txBody>
      </p:sp>
      <p:sp>
        <p:nvSpPr>
          <p:cNvPr id="3" name="TextBox 2"/>
          <p:cNvSpPr txBox="1"/>
          <p:nvPr/>
        </p:nvSpPr>
        <p:spPr>
          <a:xfrm>
            <a:off x="457200" y="1336548"/>
            <a:ext cx="8229600" cy="4893647"/>
          </a:xfrm>
          <a:prstGeom prst="rect">
            <a:avLst/>
          </a:prstGeom>
          <a:noFill/>
        </p:spPr>
        <p:txBody>
          <a:bodyPr wrap="square">
            <a:spAutoFit/>
          </a:bodyPr>
          <a:lstStyle/>
          <a:p>
            <a:pPr algn="l"/>
            <a:r>
              <a:rPr sz="2400" dirty="0">
                <a:latin typeface="Times New Roman"/>
              </a:rPr>
              <a:t>Example 1: μ = 0.20 (20% have the outcome)</a:t>
            </a:r>
          </a:p>
          <a:p>
            <a:pPr algn="l"/>
            <a:r>
              <a:rPr sz="2400" dirty="0" err="1">
                <a:latin typeface="Times New Roman"/>
              </a:rPr>
              <a:t>Cmin</a:t>
            </a:r>
            <a:r>
              <a:rPr sz="2400" dirty="0">
                <a:latin typeface="Times New Roman"/>
              </a:rPr>
              <a:t> = 0.20 − 1 = −0.80</a:t>
            </a:r>
          </a:p>
          <a:p>
            <a:pPr algn="l"/>
            <a:r>
              <a:rPr sz="2400" dirty="0" err="1">
                <a:latin typeface="Times New Roman"/>
              </a:rPr>
              <a:t>Cmax</a:t>
            </a:r>
            <a:r>
              <a:rPr sz="2400" dirty="0">
                <a:latin typeface="Times New Roman"/>
              </a:rPr>
              <a:t> = 1 − 0.20 = +0.80</a:t>
            </a:r>
          </a:p>
          <a:p>
            <a:pPr algn="l"/>
            <a:r>
              <a:rPr sz="2400" dirty="0">
                <a:latin typeface="Times New Roman"/>
              </a:rPr>
              <a:t>Possible range: −0.80 to +0.80</a:t>
            </a:r>
          </a:p>
          <a:p>
            <a:pPr algn="l"/>
            <a:endParaRPr sz="2400" dirty="0">
              <a:latin typeface="Times New Roman"/>
            </a:endParaRPr>
          </a:p>
          <a:p>
            <a:pPr algn="l"/>
            <a:r>
              <a:rPr sz="2400" dirty="0">
                <a:latin typeface="Times New Roman"/>
              </a:rPr>
              <a:t>Example 2: μ = 0.80 (80% have the outcome)</a:t>
            </a:r>
          </a:p>
          <a:p>
            <a:pPr algn="l"/>
            <a:r>
              <a:rPr sz="2400" dirty="0" err="1">
                <a:latin typeface="Times New Roman"/>
              </a:rPr>
              <a:t>Cmin</a:t>
            </a:r>
            <a:r>
              <a:rPr sz="2400" dirty="0">
                <a:latin typeface="Times New Roman"/>
              </a:rPr>
              <a:t> = 0.80 − 1 = −0.20</a:t>
            </a:r>
          </a:p>
          <a:p>
            <a:pPr algn="l"/>
            <a:r>
              <a:rPr sz="2400" dirty="0" err="1">
                <a:latin typeface="Times New Roman"/>
              </a:rPr>
              <a:t>Cmax</a:t>
            </a:r>
            <a:r>
              <a:rPr sz="2400" dirty="0">
                <a:latin typeface="Times New Roman"/>
              </a:rPr>
              <a:t> = 1 − 0.80 = +0.20</a:t>
            </a:r>
          </a:p>
          <a:p>
            <a:pPr algn="l"/>
            <a:r>
              <a:rPr sz="2400" dirty="0">
                <a:latin typeface="Times New Roman"/>
              </a:rPr>
              <a:t>Possible range: −0.20 to +0.20</a:t>
            </a:r>
          </a:p>
          <a:p>
            <a:pPr algn="l"/>
            <a:endParaRPr sz="2400" dirty="0">
              <a:latin typeface="Times New Roman"/>
            </a:endParaRPr>
          </a:p>
          <a:p>
            <a:pPr algn="l"/>
            <a:r>
              <a:rPr sz="2400" dirty="0">
                <a:latin typeface="Times New Roman"/>
              </a:rPr>
              <a:t>Intuition: when prevalence is high, many people must have y=1,</a:t>
            </a:r>
          </a:p>
          <a:p>
            <a:pPr algn="l"/>
            <a:r>
              <a:rPr sz="2400" dirty="0">
                <a:latin typeface="Times New Roman"/>
              </a:rPr>
              <a:t>so the outcome cannot be concentrated only among a small rich or poor group.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Binary Outcomes &amp; Normalizations to CI</a:t>
            </a:r>
            <a:endParaRPr b="1" dirty="0">
              <a:latin typeface="Times New Roman"/>
            </a:endParaRPr>
          </a:p>
        </p:txBody>
      </p:sp>
      <p:sp>
        <p:nvSpPr>
          <p:cNvPr id="3" name="Content Placeholder 2"/>
          <p:cNvSpPr>
            <a:spLocks noGrp="1"/>
          </p:cNvSpPr>
          <p:nvPr>
            <p:ph idx="1"/>
          </p:nvPr>
        </p:nvSpPr>
        <p:spPr/>
        <p:txBody>
          <a:bodyPr>
            <a:normAutofit/>
          </a:bodyPr>
          <a:lstStyle/>
          <a:p>
            <a:pPr>
              <a:lnSpc>
                <a:spcPct val="150000"/>
              </a:lnSpc>
            </a:pPr>
            <a:r>
              <a:rPr sz="2800" dirty="0">
                <a:latin typeface="Times New Roman"/>
              </a:rPr>
              <a:t>Wagstaff: C</a:t>
            </a:r>
            <a:r>
              <a:rPr lang="en-IN" sz="2800" baseline="-25000" dirty="0">
                <a:latin typeface="Times New Roman"/>
              </a:rPr>
              <a:t>W</a:t>
            </a:r>
            <a:r>
              <a:rPr sz="2800" dirty="0">
                <a:latin typeface="Times New Roman"/>
              </a:rPr>
              <a:t> = C/(1−μ)</a:t>
            </a:r>
            <a:r>
              <a:rPr lang="en-IN" sz="2800" dirty="0"/>
              <a:t> ∈ [−1,1]</a:t>
            </a:r>
            <a:endParaRPr sz="2800" dirty="0">
              <a:latin typeface="Times New Roman"/>
            </a:endParaRPr>
          </a:p>
          <a:p>
            <a:pPr>
              <a:lnSpc>
                <a:spcPct val="150000"/>
              </a:lnSpc>
            </a:pPr>
            <a:r>
              <a:rPr sz="2800" dirty="0" err="1">
                <a:latin typeface="Times New Roman"/>
              </a:rPr>
              <a:t>Erreygers</a:t>
            </a:r>
            <a:r>
              <a:rPr sz="2800" dirty="0">
                <a:latin typeface="Times New Roman"/>
              </a:rPr>
              <a:t> : E = 4 </a:t>
            </a:r>
            <a:r>
              <a:rPr sz="2800" dirty="0" err="1">
                <a:latin typeface="Times New Roman"/>
              </a:rPr>
              <a:t>μC</a:t>
            </a:r>
            <a:r>
              <a:rPr lang="en-IN" sz="2800" dirty="0">
                <a:latin typeface="Times New Roman"/>
              </a:rPr>
              <a:t>/ (b-a)</a:t>
            </a:r>
            <a:r>
              <a:rPr sz="2800" dirty="0">
                <a:latin typeface="Times New Roman"/>
              </a:rPr>
              <a:t> ∈ [−1,1]</a:t>
            </a:r>
            <a:endParaRPr lang="en-IN" sz="2800" dirty="0">
              <a:latin typeface="Times New Roman"/>
            </a:endParaRPr>
          </a:p>
          <a:p>
            <a:pPr>
              <a:lnSpc>
                <a:spcPct val="150000"/>
              </a:lnSpc>
            </a:pPr>
            <a:r>
              <a:rPr lang="en-IN" sz="2800" dirty="0">
                <a:latin typeface="Times New Roman"/>
              </a:rPr>
              <a:t>Where b and a are upper and lower bounds of the health variable.</a:t>
            </a:r>
            <a:endParaRPr sz="2800" dirty="0">
              <a:latin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a:extLst>
              <a:ext uri="{FF2B5EF4-FFF2-40B4-BE49-F238E27FC236}">
                <a16:creationId xmlns:a16="http://schemas.microsoft.com/office/drawing/2014/main" id="{8D4BC9DA-B5D7-C215-EE7B-129F1463C4C2}"/>
              </a:ext>
            </a:extLst>
          </p:cNvPr>
          <p:cNvSpPr>
            <a:spLocks noGrp="1" noChangeArrowheads="1"/>
          </p:cNvSpPr>
          <p:nvPr>
            <p:ph type="title"/>
          </p:nvPr>
        </p:nvSpPr>
        <p:spPr>
          <a:xfrm>
            <a:off x="673100" y="0"/>
            <a:ext cx="7797800" cy="1593850"/>
          </a:xfrm>
        </p:spPr>
        <p:txBody>
          <a:bodyPr/>
          <a:lstStyle/>
          <a:p>
            <a:r>
              <a:rPr lang="en-US" altLang="en-US" sz="3600" dirty="0"/>
              <a:t>Total inequality in health and socioeconomic-related health inequality</a:t>
            </a:r>
            <a:r>
              <a:rPr lang="nl-NL" altLang="en-US" sz="3600" dirty="0"/>
              <a:t> </a:t>
            </a:r>
            <a:endParaRPr lang="nl-NL" altLang="en-US" sz="3600" i="1" dirty="0"/>
          </a:p>
        </p:txBody>
      </p:sp>
      <p:pic>
        <p:nvPicPr>
          <p:cNvPr id="570371" name="Picture 3">
            <a:extLst>
              <a:ext uri="{FF2B5EF4-FFF2-40B4-BE49-F238E27FC236}">
                <a16:creationId xmlns:a16="http://schemas.microsoft.com/office/drawing/2014/main" id="{2B950D4A-1D47-948F-0277-4F5101AE957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0" y="1490663"/>
            <a:ext cx="5951538" cy="4892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sp>
        <p:nvSpPr>
          <p:cNvPr id="570372" name="Text Box 4">
            <a:extLst>
              <a:ext uri="{FF2B5EF4-FFF2-40B4-BE49-F238E27FC236}">
                <a16:creationId xmlns:a16="http://schemas.microsoft.com/office/drawing/2014/main" id="{51085DD8-8808-EEDB-2E42-7DAB8956B67C}"/>
              </a:ext>
            </a:extLst>
          </p:cNvPr>
          <p:cNvSpPr txBox="1">
            <a:spLocks noChangeArrowheads="1"/>
          </p:cNvSpPr>
          <p:nvPr/>
        </p:nvSpPr>
        <p:spPr bwMode="auto">
          <a:xfrm>
            <a:off x="6030913" y="1565275"/>
            <a:ext cx="3113087"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dirty="0"/>
              <a:t>By definition, the </a:t>
            </a:r>
          </a:p>
          <a:p>
            <a:r>
              <a:rPr lang="en-US" altLang="en-US" sz="2800" dirty="0"/>
              <a:t>health Lorenz curve </a:t>
            </a:r>
          </a:p>
          <a:p>
            <a:r>
              <a:rPr lang="en-US" altLang="en-US" sz="2800" dirty="0"/>
              <a:t>must lie below the </a:t>
            </a:r>
          </a:p>
          <a:p>
            <a:r>
              <a:rPr lang="en-US" altLang="en-US" sz="2800" dirty="0"/>
              <a:t>concentration curve.</a:t>
            </a:r>
          </a:p>
          <a:p>
            <a:endParaRPr lang="en-US" altLang="en-US" sz="2800" dirty="0"/>
          </a:p>
          <a:p>
            <a:r>
              <a:rPr lang="en-US" altLang="en-US" sz="2800" dirty="0"/>
              <a:t>That is, total health</a:t>
            </a:r>
          </a:p>
          <a:p>
            <a:r>
              <a:rPr lang="en-US" altLang="en-US" sz="2800" dirty="0"/>
              <a:t>Inequality is greater</a:t>
            </a:r>
          </a:p>
          <a:p>
            <a:r>
              <a:rPr lang="en-US" altLang="en-US" sz="2800" dirty="0"/>
              <a:t>than SES-related</a:t>
            </a:r>
          </a:p>
          <a:p>
            <a:r>
              <a:rPr lang="en-US" altLang="en-US" sz="2800" dirty="0"/>
              <a:t>health inequality.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113DA-A19A-4B46-A879-340272291EBF}"/>
              </a:ext>
            </a:extLst>
          </p:cNvPr>
          <p:cNvSpPr>
            <a:spLocks noGrp="1"/>
          </p:cNvSpPr>
          <p:nvPr>
            <p:ph type="title"/>
          </p:nvPr>
        </p:nvSpPr>
        <p:spPr>
          <a:xfrm>
            <a:off x="0" y="0"/>
            <a:ext cx="9144000" cy="1096963"/>
          </a:xfrm>
          <a:solidFill>
            <a:schemeClr val="accent5">
              <a:lumMod val="20000"/>
              <a:lumOff val="80000"/>
            </a:schemeClr>
          </a:solidFill>
        </p:spPr>
        <p:txBody>
          <a:bodyPr/>
          <a:lstStyle/>
          <a:p>
            <a:pPr>
              <a:defRPr/>
            </a:pPr>
            <a:r>
              <a:rPr lang="en-IN" dirty="0"/>
              <a:t>Lorenz Curve and Concentration Curve</a:t>
            </a:r>
          </a:p>
        </p:txBody>
      </p:sp>
      <p:sp>
        <p:nvSpPr>
          <p:cNvPr id="3" name="Text Placeholder 2">
            <a:extLst>
              <a:ext uri="{FF2B5EF4-FFF2-40B4-BE49-F238E27FC236}">
                <a16:creationId xmlns:a16="http://schemas.microsoft.com/office/drawing/2014/main" id="{F574164B-0956-4651-B6EB-7E29F3B6D271}"/>
              </a:ext>
            </a:extLst>
          </p:cNvPr>
          <p:cNvSpPr>
            <a:spLocks noGrp="1"/>
          </p:cNvSpPr>
          <p:nvPr>
            <p:ph type="body" idx="1"/>
          </p:nvPr>
        </p:nvSpPr>
        <p:spPr>
          <a:xfrm>
            <a:off x="612909" y="1743869"/>
            <a:ext cx="3871913" cy="352425"/>
          </a:xfrm>
        </p:spPr>
        <p:txBody>
          <a:bodyPr>
            <a:normAutofit lnSpcReduction="10000"/>
          </a:bodyPr>
          <a:lstStyle/>
          <a:p>
            <a:pPr>
              <a:defRPr/>
            </a:pPr>
            <a:r>
              <a:rPr lang="en-IN" dirty="0"/>
              <a:t>Lorenz Curve</a:t>
            </a:r>
          </a:p>
        </p:txBody>
      </p:sp>
      <p:sp>
        <p:nvSpPr>
          <p:cNvPr id="4" name="Content Placeholder 3">
            <a:extLst>
              <a:ext uri="{FF2B5EF4-FFF2-40B4-BE49-F238E27FC236}">
                <a16:creationId xmlns:a16="http://schemas.microsoft.com/office/drawing/2014/main" id="{E81F71C3-1896-408E-B86D-3A4C3549A895}"/>
              </a:ext>
            </a:extLst>
          </p:cNvPr>
          <p:cNvSpPr>
            <a:spLocks noGrp="1"/>
          </p:cNvSpPr>
          <p:nvPr>
            <p:ph sz="half" idx="2"/>
          </p:nvPr>
        </p:nvSpPr>
        <p:spPr>
          <a:xfrm>
            <a:off x="431141" y="2602640"/>
            <a:ext cx="3867150" cy="2762250"/>
          </a:xfrm>
        </p:spPr>
        <p:txBody>
          <a:bodyPr>
            <a:normAutofit fontScale="77500" lnSpcReduction="20000"/>
          </a:bodyPr>
          <a:lstStyle/>
          <a:p>
            <a:pPr>
              <a:defRPr/>
            </a:pPr>
            <a:r>
              <a:rPr lang="en-IN" dirty="0"/>
              <a:t>Lorenz curve is a widely measure of income inequality.</a:t>
            </a:r>
          </a:p>
          <a:p>
            <a:pPr>
              <a:defRPr/>
            </a:pPr>
            <a:r>
              <a:rPr lang="en-IN" dirty="0"/>
              <a:t>It is a graphical presentation of cumulative % of population (starting from poorest) against cumulative % of income/wealth </a:t>
            </a:r>
          </a:p>
          <a:p>
            <a:pPr>
              <a:defRPr/>
            </a:pPr>
            <a:r>
              <a:rPr lang="en-IN" dirty="0"/>
              <a:t>It uses only one variable, distribution of population by income/wealth</a:t>
            </a:r>
          </a:p>
          <a:p>
            <a:pPr>
              <a:defRPr/>
            </a:pPr>
            <a:r>
              <a:rPr lang="en-IN" dirty="0"/>
              <a:t>In deriving Lorenz curve, we arrange the income data in ascending order and than cumulate the distribution </a:t>
            </a:r>
          </a:p>
          <a:p>
            <a:pPr>
              <a:defRPr/>
            </a:pPr>
            <a:r>
              <a:rPr lang="en-IN" dirty="0"/>
              <a:t>We plot the cumulative % of population against the cumulative % of income</a:t>
            </a:r>
          </a:p>
          <a:p>
            <a:pPr>
              <a:defRPr/>
            </a:pPr>
            <a:r>
              <a:rPr lang="en-IN" dirty="0"/>
              <a:t>The diagonal line is the line of perfect equality where inequality is 0 </a:t>
            </a:r>
          </a:p>
          <a:p>
            <a:pPr>
              <a:defRPr/>
            </a:pPr>
            <a:endParaRPr lang="en-IN" dirty="0"/>
          </a:p>
          <a:p>
            <a:pPr marL="0" indent="0">
              <a:buFont typeface="Arial" panose="020B0604020202020204" pitchFamily="34" charset="0"/>
              <a:buNone/>
              <a:defRPr/>
            </a:pPr>
            <a:endParaRPr lang="en-IN" dirty="0"/>
          </a:p>
          <a:p>
            <a:pPr>
              <a:defRPr/>
            </a:pPr>
            <a:endParaRPr lang="en-IN" dirty="0"/>
          </a:p>
        </p:txBody>
      </p:sp>
      <p:sp>
        <p:nvSpPr>
          <p:cNvPr id="5" name="Text Placeholder 4">
            <a:extLst>
              <a:ext uri="{FF2B5EF4-FFF2-40B4-BE49-F238E27FC236}">
                <a16:creationId xmlns:a16="http://schemas.microsoft.com/office/drawing/2014/main" id="{FC5C237B-55A1-4BCB-99D9-C863AA5BA5F7}"/>
              </a:ext>
            </a:extLst>
          </p:cNvPr>
          <p:cNvSpPr>
            <a:spLocks noGrp="1"/>
          </p:cNvSpPr>
          <p:nvPr>
            <p:ph type="body" sz="quarter" idx="3"/>
          </p:nvPr>
        </p:nvSpPr>
        <p:spPr>
          <a:xfrm>
            <a:off x="4789920" y="1742281"/>
            <a:ext cx="3887788" cy="354013"/>
          </a:xfrm>
        </p:spPr>
        <p:txBody>
          <a:bodyPr>
            <a:normAutofit lnSpcReduction="10000"/>
          </a:bodyPr>
          <a:lstStyle/>
          <a:p>
            <a:pPr>
              <a:defRPr/>
            </a:pPr>
            <a:r>
              <a:rPr lang="en-IN" dirty="0"/>
              <a:t>Concentration curve</a:t>
            </a:r>
          </a:p>
        </p:txBody>
      </p:sp>
      <p:sp>
        <p:nvSpPr>
          <p:cNvPr id="6" name="Content Placeholder 5">
            <a:extLst>
              <a:ext uri="{FF2B5EF4-FFF2-40B4-BE49-F238E27FC236}">
                <a16:creationId xmlns:a16="http://schemas.microsoft.com/office/drawing/2014/main" id="{1320FC79-E964-4CF2-B423-07A76F8C83A6}"/>
              </a:ext>
            </a:extLst>
          </p:cNvPr>
          <p:cNvSpPr>
            <a:spLocks noGrp="1"/>
          </p:cNvSpPr>
          <p:nvPr>
            <p:ph sz="quarter" idx="4"/>
          </p:nvPr>
        </p:nvSpPr>
        <p:spPr>
          <a:xfrm>
            <a:off x="4629150" y="2601052"/>
            <a:ext cx="3887787" cy="2763838"/>
          </a:xfrm>
        </p:spPr>
        <p:txBody>
          <a:bodyPr>
            <a:normAutofit fontScale="77500" lnSpcReduction="20000"/>
          </a:bodyPr>
          <a:lstStyle/>
          <a:p>
            <a:pPr>
              <a:defRPr/>
            </a:pPr>
            <a:r>
              <a:rPr lang="en-IN" dirty="0"/>
              <a:t>Concentration curve is a widely measure of health inequality</a:t>
            </a:r>
          </a:p>
          <a:p>
            <a:pPr>
              <a:defRPr/>
            </a:pPr>
            <a:r>
              <a:rPr lang="en-IN" dirty="0"/>
              <a:t>It is a graphical presentation of cumulative % of health variable against the cumulative % of population ranked by income/socio-economic status</a:t>
            </a:r>
          </a:p>
          <a:p>
            <a:pPr>
              <a:defRPr/>
            </a:pPr>
            <a:r>
              <a:rPr lang="en-IN" dirty="0"/>
              <a:t>It usages two variables; health and income</a:t>
            </a:r>
          </a:p>
          <a:p>
            <a:pPr>
              <a:defRPr/>
            </a:pPr>
            <a:r>
              <a:rPr lang="en-IN" dirty="0"/>
              <a:t>In deriving concentration curve, we arrange the  health data by rank of income</a:t>
            </a:r>
          </a:p>
          <a:p>
            <a:pPr>
              <a:defRPr/>
            </a:pPr>
            <a:r>
              <a:rPr lang="en-IN" dirty="0"/>
              <a:t>We plot the cumulative % of health variable against the cumulative % of income</a:t>
            </a:r>
          </a:p>
          <a:p>
            <a:pPr>
              <a:defRPr/>
            </a:pPr>
            <a:r>
              <a:rPr lang="en-IN" dirty="0"/>
              <a:t>The diagonal line is the line of perfect equality</a:t>
            </a:r>
          </a:p>
          <a:p>
            <a:pPr>
              <a:defRPr/>
            </a:pPr>
            <a:r>
              <a:rPr lang="en-IN" dirty="0"/>
              <a:t>Concentration curve can be above the diagonal line/ below the diagonal line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CFBFAC-C8EC-55A8-E2E4-F4DF3E02414F}"/>
              </a:ext>
            </a:extLst>
          </p:cNvPr>
          <p:cNvSpPr>
            <a:spLocks noGrp="1"/>
          </p:cNvSpPr>
          <p:nvPr>
            <p:ph type="ctrTitle"/>
          </p:nvPr>
        </p:nvSpPr>
        <p:spPr/>
        <p:txBody>
          <a:bodyPr/>
          <a:lstStyle/>
          <a:p>
            <a:r>
              <a:rPr lang="en-US" b="1" dirty="0"/>
              <a:t>Demographic standardization of the concentration index</a:t>
            </a:r>
            <a:endParaRPr lang="en-IN" dirty="0"/>
          </a:p>
        </p:txBody>
      </p:sp>
    </p:spTree>
    <p:extLst>
      <p:ext uri="{BB962C8B-B14F-4D97-AF65-F5344CB8AC3E}">
        <p14:creationId xmlns:p14="http://schemas.microsoft.com/office/powerpoint/2010/main" val="3072892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a:rPr>
              <a:t>Demographic standardization of the concentration index</a:t>
            </a:r>
            <a:endParaRPr b="1" dirty="0">
              <a:latin typeface="Times New Roman"/>
            </a:endParaRPr>
          </a:p>
        </p:txBody>
      </p:sp>
      <p:sp>
        <p:nvSpPr>
          <p:cNvPr id="3" name="Content Placeholder 2"/>
          <p:cNvSpPr>
            <a:spLocks noGrp="1"/>
          </p:cNvSpPr>
          <p:nvPr>
            <p:ph idx="1"/>
          </p:nvPr>
        </p:nvSpPr>
        <p:spPr/>
        <p:txBody>
          <a:bodyPr>
            <a:normAutofit lnSpcReduction="10000"/>
          </a:bodyPr>
          <a:lstStyle/>
          <a:p>
            <a:pPr>
              <a:lnSpc>
                <a:spcPct val="150000"/>
              </a:lnSpc>
            </a:pPr>
            <a:r>
              <a:rPr lang="en-US" altLang="en-US" sz="3200" dirty="0"/>
              <a:t>Standardize for the total correlation with demographic confounding variables (x).</a:t>
            </a:r>
          </a:p>
          <a:p>
            <a:pPr>
              <a:lnSpc>
                <a:spcPct val="150000"/>
              </a:lnSpc>
            </a:pPr>
            <a:r>
              <a:rPr sz="3200" dirty="0">
                <a:latin typeface="Times New Roman"/>
              </a:rPr>
              <a:t>Model y on need variables z ⇒ ŷ = E[</a:t>
            </a:r>
            <a:r>
              <a:rPr sz="3200" dirty="0" err="1">
                <a:latin typeface="Times New Roman"/>
              </a:rPr>
              <a:t>y|z</a:t>
            </a:r>
            <a:r>
              <a:rPr sz="3200" dirty="0">
                <a:latin typeface="Times New Roman"/>
              </a:rPr>
              <a:t>]</a:t>
            </a:r>
          </a:p>
          <a:p>
            <a:pPr>
              <a:lnSpc>
                <a:spcPct val="150000"/>
              </a:lnSpc>
            </a:pPr>
            <a:r>
              <a:rPr sz="3200" dirty="0">
                <a:latin typeface="Times New Roman"/>
              </a:rPr>
              <a:t>Indirectly standardized outcome: y</a:t>
            </a:r>
            <a:r>
              <a:rPr lang="en-IN" sz="3200" baseline="-25000" dirty="0">
                <a:latin typeface="Times New Roman"/>
              </a:rPr>
              <a:t>IS</a:t>
            </a:r>
            <a:r>
              <a:rPr sz="3200" dirty="0">
                <a:latin typeface="Times New Roman"/>
              </a:rPr>
              <a:t> = y − ŷ + μ (preserves mean)</a:t>
            </a:r>
          </a:p>
          <a:p>
            <a:pPr>
              <a:lnSpc>
                <a:spcPct val="150000"/>
              </a:lnSpc>
            </a:pPr>
            <a:r>
              <a:rPr sz="3200" dirty="0">
                <a:latin typeface="Times New Roman"/>
              </a:rPr>
              <a:t>CI</a:t>
            </a:r>
            <a:r>
              <a:rPr sz="3200" baseline="-25000" dirty="0">
                <a:latin typeface="Times New Roman"/>
              </a:rPr>
              <a:t>IS</a:t>
            </a:r>
            <a:r>
              <a:rPr sz="3200" dirty="0">
                <a:latin typeface="Times New Roman"/>
              </a:rPr>
              <a:t> on </a:t>
            </a:r>
            <a:r>
              <a:rPr lang="en-IN" sz="3200" dirty="0"/>
              <a:t>y</a:t>
            </a:r>
            <a:r>
              <a:rPr lang="en-IN" sz="3200" baseline="-25000" dirty="0"/>
              <a:t>IS</a:t>
            </a:r>
            <a:r>
              <a:rPr lang="en-IN" sz="3200" baseline="-25000" dirty="0">
                <a:latin typeface="Times New Roman"/>
              </a:rPr>
              <a:t>  = </a:t>
            </a:r>
            <a:r>
              <a:rPr sz="3200" dirty="0" err="1">
                <a:latin typeface="Times New Roman"/>
              </a:rPr>
              <a:t>CI</a:t>
            </a:r>
            <a:r>
              <a:rPr sz="3200" baseline="-25000" dirty="0" err="1">
                <a:latin typeface="Times New Roman"/>
              </a:rPr>
              <a:t>y</a:t>
            </a:r>
            <a:r>
              <a:rPr sz="3200" dirty="0">
                <a:latin typeface="Times New Roman"/>
              </a:rPr>
              <a:t> − </a:t>
            </a:r>
            <a:r>
              <a:rPr lang="cy-GB" sz="3200" dirty="0"/>
              <a:t>(μ</a:t>
            </a:r>
            <a:r>
              <a:rPr lang="cy-GB" sz="3200" baseline="-25000" dirty="0"/>
              <a:t>ŷ </a:t>
            </a:r>
            <a:r>
              <a:rPr lang="cy-GB" sz="3200" dirty="0"/>
              <a:t>/μ) </a:t>
            </a:r>
            <a:r>
              <a:rPr sz="3200" dirty="0" err="1">
                <a:latin typeface="Times New Roman"/>
              </a:rPr>
              <a:t>CI</a:t>
            </a:r>
            <a:r>
              <a:rPr sz="3200" baseline="-25000" dirty="0" err="1">
                <a:latin typeface="Times New Roman"/>
              </a:rPr>
              <a:t>ŷ</a:t>
            </a:r>
            <a:endParaRPr sz="3200" dirty="0">
              <a:latin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186" y="2339493"/>
            <a:ext cx="7772400" cy="1362075"/>
          </a:xfrm>
        </p:spPr>
        <p:txBody>
          <a:bodyPr/>
          <a:lstStyle/>
          <a:p>
            <a:r>
              <a:rPr sz="3200" dirty="0">
                <a:latin typeface="Times New Roman"/>
              </a:rPr>
              <a:t>Decomposition</a:t>
            </a:r>
            <a:r>
              <a:rPr dirty="0">
                <a:latin typeface="Times New Roman"/>
              </a:rPr>
              <a:t> of CI (Wagstaff)</a:t>
            </a:r>
          </a:p>
        </p:txBody>
      </p:sp>
      <p:sp>
        <p:nvSpPr>
          <p:cNvPr id="3" name="Text Placeholder 2"/>
          <p:cNvSpPr>
            <a:spLocks noGrp="1"/>
          </p:cNvSpPr>
          <p:nvPr>
            <p:ph type="body" idx="1"/>
          </p:nvPr>
        </p:nvSpPr>
        <p:spPr>
          <a:xfrm>
            <a:off x="804957" y="3020530"/>
            <a:ext cx="7534086" cy="794855"/>
          </a:xfrm>
        </p:spPr>
        <p:txBody>
          <a:bodyPr>
            <a:normAutofit/>
          </a:bodyPr>
          <a:lstStyle/>
          <a:p>
            <a:pPr marL="381000" indent="-381000" algn="ctr"/>
            <a:r>
              <a:rPr lang="en-US" altLang="en-US" sz="2000" dirty="0">
                <a:solidFill>
                  <a:schemeClr val="tx1"/>
                </a:solidFill>
                <a:sym typeface="Symbol" panose="05050102010706020507" pitchFamily="18" charset="2"/>
              </a:rPr>
              <a:t>Decomposition is a useful explanatory tool for partitioning inequality. </a:t>
            </a:r>
            <a:endParaRPr lang="en-US" altLang="en-US" sz="2000" u="sng" dirty="0">
              <a:solidFill>
                <a:schemeClr val="tx1"/>
              </a:solidFill>
              <a:sym typeface="Symbol" panose="05050102010706020507" pitchFamily="18" charset="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a:extLst>
              <a:ext uri="{FF2B5EF4-FFF2-40B4-BE49-F238E27FC236}">
                <a16:creationId xmlns:a16="http://schemas.microsoft.com/office/drawing/2014/main" id="{7E6687CA-EF92-1E27-4EBC-F586653DFBB1}"/>
              </a:ext>
            </a:extLst>
          </p:cNvPr>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74115" name="Rectangle 3">
            <a:extLst>
              <a:ext uri="{FF2B5EF4-FFF2-40B4-BE49-F238E27FC236}">
                <a16:creationId xmlns:a16="http://schemas.microsoft.com/office/drawing/2014/main" id="{16D93DE3-53C3-D9BD-DFD3-56AD624A1699}"/>
              </a:ext>
            </a:extLst>
          </p:cNvPr>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74116" name="Rectangle 4">
            <a:extLst>
              <a:ext uri="{FF2B5EF4-FFF2-40B4-BE49-F238E27FC236}">
                <a16:creationId xmlns:a16="http://schemas.microsoft.com/office/drawing/2014/main" id="{F6B9D1E3-6C60-7CEB-FEDC-B82B29B27667}"/>
              </a:ext>
            </a:extLst>
          </p:cNvPr>
          <p:cNvSpPr>
            <a:spLocks noGrp="1" noChangeArrowheads="1"/>
          </p:cNvSpPr>
          <p:nvPr>
            <p:ph type="title"/>
          </p:nvPr>
        </p:nvSpPr>
        <p:spPr>
          <a:xfrm>
            <a:off x="180110" y="0"/>
            <a:ext cx="8687666" cy="914400"/>
          </a:xfrm>
          <a:noFill/>
          <a:ln/>
        </p:spPr>
        <p:txBody>
          <a:bodyPr lIns="92075" tIns="46038" rIns="92075" bIns="46038" anchor="b"/>
          <a:lstStyle/>
          <a:p>
            <a:pPr eaLnBrk="0" hangingPunct="0"/>
            <a:r>
              <a:rPr lang="en-GB" altLang="en-US" sz="3600" dirty="0"/>
              <a:t>Decomposition of the Concentration Index</a:t>
            </a:r>
          </a:p>
        </p:txBody>
      </p:sp>
      <p:sp>
        <p:nvSpPr>
          <p:cNvPr id="474117" name="Rectangle 5">
            <a:extLst>
              <a:ext uri="{FF2B5EF4-FFF2-40B4-BE49-F238E27FC236}">
                <a16:creationId xmlns:a16="http://schemas.microsoft.com/office/drawing/2014/main" id="{6364E4CD-A9A4-6F1C-ABE6-E33F10C8DB6B}"/>
              </a:ext>
            </a:extLst>
          </p:cNvPr>
          <p:cNvSpPr>
            <a:spLocks noGrp="1" noChangeArrowheads="1"/>
          </p:cNvSpPr>
          <p:nvPr>
            <p:ph type="body" idx="1"/>
          </p:nvPr>
        </p:nvSpPr>
        <p:spPr>
          <a:xfrm>
            <a:off x="180109" y="1109663"/>
            <a:ext cx="8866909" cy="5415828"/>
          </a:xfrm>
          <a:noFill/>
          <a:ln/>
        </p:spPr>
        <p:txBody>
          <a:bodyPr lIns="92075" tIns="46038" rIns="92075" bIns="46038">
            <a:normAutofit lnSpcReduction="10000"/>
          </a:bodyPr>
          <a:lstStyle/>
          <a:p>
            <a:pPr lvl="1" eaLnBrk="0" hangingPunct="0">
              <a:lnSpc>
                <a:spcPct val="130000"/>
              </a:lnSpc>
              <a:buFont typeface="Arial" panose="020B0604020202020204" pitchFamily="34" charset="0"/>
              <a:buChar char="•"/>
            </a:pPr>
            <a:r>
              <a:rPr lang="en-GB" altLang="en-US" sz="2400" dirty="0"/>
              <a:t>For any linear additive explanatory model of  </a:t>
            </a:r>
            <a:r>
              <a:rPr lang="en-GB" altLang="en-US" sz="2400" dirty="0">
                <a:latin typeface="Tahoma" panose="020B0604030504040204" pitchFamily="34" charset="0"/>
              </a:rPr>
              <a:t>‘</a:t>
            </a:r>
            <a:r>
              <a:rPr lang="en-GB" altLang="en-US" sz="2400" dirty="0"/>
              <a:t>health</a:t>
            </a:r>
            <a:r>
              <a:rPr lang="en-GB" altLang="en-US" sz="2400" dirty="0">
                <a:latin typeface="Tahoma" panose="020B0604030504040204" pitchFamily="34" charset="0"/>
              </a:rPr>
              <a:t>’</a:t>
            </a:r>
            <a:r>
              <a:rPr lang="en-GB" altLang="en-US" sz="2400" dirty="0"/>
              <a:t> (y) such as</a:t>
            </a:r>
            <a:r>
              <a:rPr lang="en-GB" altLang="en-US" sz="2400" dirty="0">
                <a:latin typeface="Arial Unicode MS" charset="0"/>
              </a:rPr>
              <a:t> :</a:t>
            </a:r>
          </a:p>
          <a:p>
            <a:pPr lvl="1" eaLnBrk="0" hangingPunct="0">
              <a:lnSpc>
                <a:spcPct val="130000"/>
              </a:lnSpc>
              <a:buFontTx/>
              <a:buNone/>
            </a:pPr>
            <a:endParaRPr lang="en-US" altLang="en-US" sz="2400" dirty="0">
              <a:latin typeface="Arial Unicode MS" charset="0"/>
            </a:endParaRPr>
          </a:p>
          <a:p>
            <a:pPr lvl="1" algn="just" eaLnBrk="0" hangingPunct="0">
              <a:lnSpc>
                <a:spcPct val="130000"/>
              </a:lnSpc>
              <a:buFont typeface="Arial" panose="020B0604020202020204" pitchFamily="34" charset="0"/>
              <a:buChar char="•"/>
            </a:pPr>
            <a:r>
              <a:rPr lang="en-US" altLang="en-US" sz="2400" dirty="0">
                <a:cs typeface="Times New Roman" panose="02020603050405020304" pitchFamily="18" charset="0"/>
              </a:rPr>
              <a:t>The concentration index of y can be decomposed (Wagstaff </a:t>
            </a:r>
            <a:r>
              <a:rPr lang="en-US" altLang="en-US" sz="2400">
                <a:cs typeface="Times New Roman" panose="02020603050405020304" pitchFamily="18" charset="0"/>
              </a:rPr>
              <a:t>et al, </a:t>
            </a:r>
            <a:r>
              <a:rPr lang="en-US" altLang="en-US" sz="2400" dirty="0">
                <a:cs typeface="Times New Roman" panose="02020603050405020304" pitchFamily="18" charset="0"/>
              </a:rPr>
              <a:t>2003):</a:t>
            </a:r>
            <a:endParaRPr lang="en-US" altLang="en-US" sz="2400" dirty="0"/>
          </a:p>
          <a:p>
            <a:pPr lvl="1" eaLnBrk="0" hangingPunct="0">
              <a:lnSpc>
                <a:spcPct val="130000"/>
              </a:lnSpc>
              <a:buFontTx/>
              <a:buNone/>
            </a:pPr>
            <a:endParaRPr lang="en-US" altLang="en-US" sz="2400" dirty="0"/>
          </a:p>
          <a:p>
            <a:pPr lvl="1" eaLnBrk="0" hangingPunct="0">
              <a:lnSpc>
                <a:spcPct val="130000"/>
              </a:lnSpc>
              <a:buFontTx/>
              <a:buNone/>
            </a:pPr>
            <a:endParaRPr lang="en-US" altLang="en-US" sz="2400" dirty="0"/>
          </a:p>
          <a:p>
            <a:pPr lvl="1" eaLnBrk="0" hangingPunct="0">
              <a:lnSpc>
                <a:spcPct val="130000"/>
              </a:lnSpc>
              <a:buFont typeface="Arial" panose="020B0604020202020204" pitchFamily="34" charset="0"/>
              <a:buChar char="•"/>
            </a:pPr>
            <a:endParaRPr lang="en-US" altLang="en-US" sz="2400" dirty="0"/>
          </a:p>
          <a:p>
            <a:pPr lvl="1" eaLnBrk="0" hangingPunct="0">
              <a:lnSpc>
                <a:spcPct val="130000"/>
              </a:lnSpc>
              <a:buFont typeface="Arial" panose="020B0604020202020204" pitchFamily="34" charset="0"/>
              <a:buChar char="•"/>
            </a:pPr>
            <a:r>
              <a:rPr lang="en-US" altLang="en-US" sz="2400" dirty="0"/>
              <a:t>where </a:t>
            </a:r>
            <a:r>
              <a:rPr lang="en-US" altLang="en-US" sz="2400" i="1" dirty="0">
                <a:sym typeface="Symbol" panose="05050102010706020507" pitchFamily="18" charset="2"/>
              </a:rPr>
              <a:t></a:t>
            </a:r>
            <a:r>
              <a:rPr lang="en-US" altLang="en-US" sz="2400" dirty="0"/>
              <a:t> is the mean of </a:t>
            </a:r>
            <a:r>
              <a:rPr lang="en-US" altLang="en-US" sz="2400" i="1" dirty="0"/>
              <a:t>y</a:t>
            </a:r>
            <a:r>
              <a:rPr lang="en-US" altLang="en-US" sz="2400" dirty="0"/>
              <a:t>,        is the mean of </a:t>
            </a:r>
            <a:r>
              <a:rPr lang="en-US" altLang="en-US" sz="2400" i="1" dirty="0" err="1"/>
              <a:t>x</a:t>
            </a:r>
            <a:r>
              <a:rPr lang="en-US" altLang="en-US" sz="2400" i="1" baseline="-25000" dirty="0" err="1"/>
              <a:t>k</a:t>
            </a:r>
            <a:r>
              <a:rPr lang="en-US" altLang="en-US" sz="2400" dirty="0"/>
              <a:t>, </a:t>
            </a:r>
            <a:r>
              <a:rPr lang="en-US" altLang="en-US" sz="2400" i="1" dirty="0"/>
              <a:t>C</a:t>
            </a:r>
            <a:r>
              <a:rPr lang="en-US" altLang="en-US" sz="2400" i="1" baseline="-25000" dirty="0"/>
              <a:t>k</a:t>
            </a:r>
            <a:r>
              <a:rPr lang="en-US" altLang="en-US" sz="2400" dirty="0"/>
              <a:t> is the concentration index for </a:t>
            </a:r>
            <a:r>
              <a:rPr lang="en-US" altLang="en-US" sz="2400" i="1" dirty="0" err="1"/>
              <a:t>x</a:t>
            </a:r>
            <a:r>
              <a:rPr lang="en-US" altLang="en-US" sz="2400" i="1" baseline="-25000" dirty="0" err="1"/>
              <a:t>k</a:t>
            </a:r>
            <a:r>
              <a:rPr lang="en-US" altLang="en-US" sz="2400" dirty="0"/>
              <a:t> , GC</a:t>
            </a:r>
            <a:r>
              <a:rPr lang="el-GR" altLang="en-US" sz="2400" baseline="-25000" dirty="0"/>
              <a:t>ε</a:t>
            </a:r>
            <a:r>
              <a:rPr lang="en-US" altLang="en-US" sz="2400" dirty="0"/>
              <a:t> is the generalized concentration index for the error term (residual), and </a:t>
            </a:r>
            <a:r>
              <a:rPr lang="el-GR" altLang="en-US" sz="2400" dirty="0"/>
              <a:t>η</a:t>
            </a:r>
            <a:r>
              <a:rPr lang="el-GR" altLang="en-US" sz="2400" baseline="-25000" dirty="0"/>
              <a:t>κ</a:t>
            </a:r>
            <a:r>
              <a:rPr lang="en-US" altLang="en-US" sz="2400" dirty="0"/>
              <a:t> is the elasticity of y with respect to </a:t>
            </a:r>
            <a:r>
              <a:rPr lang="en-US" altLang="en-US" sz="2400" dirty="0" err="1"/>
              <a:t>x</a:t>
            </a:r>
            <a:r>
              <a:rPr lang="en-US" altLang="en-US" sz="2400" baseline="-25000" dirty="0" err="1"/>
              <a:t>k</a:t>
            </a:r>
            <a:r>
              <a:rPr lang="en-US" altLang="en-US" sz="2400" dirty="0"/>
              <a:t> . </a:t>
            </a:r>
            <a:endParaRPr lang="en-GB" altLang="en-US" sz="2400" dirty="0"/>
          </a:p>
        </p:txBody>
      </p:sp>
      <p:graphicFrame>
        <p:nvGraphicFramePr>
          <p:cNvPr id="474118" name="Object 6">
            <a:extLst>
              <a:ext uri="{FF2B5EF4-FFF2-40B4-BE49-F238E27FC236}">
                <a16:creationId xmlns:a16="http://schemas.microsoft.com/office/drawing/2014/main" id="{C4F3F4E5-B33B-2F8C-B01D-54FDA3D3C314}"/>
              </a:ext>
            </a:extLst>
          </p:cNvPr>
          <p:cNvGraphicFramePr>
            <a:graphicFrameLocks noChangeAspect="1"/>
          </p:cNvGraphicFramePr>
          <p:nvPr>
            <p:extLst>
              <p:ext uri="{D42A27DB-BD31-4B8C-83A1-F6EECF244321}">
                <p14:modId xmlns:p14="http://schemas.microsoft.com/office/powerpoint/2010/main" val="1868050655"/>
              </p:ext>
            </p:extLst>
          </p:nvPr>
        </p:nvGraphicFramePr>
        <p:xfrm>
          <a:off x="2747963" y="1698625"/>
          <a:ext cx="2703512" cy="511175"/>
        </p:xfrm>
        <a:graphic>
          <a:graphicData uri="http://schemas.openxmlformats.org/presentationml/2006/ole">
            <mc:AlternateContent xmlns:mc="http://schemas.openxmlformats.org/markup-compatibility/2006">
              <mc:Choice xmlns:v="urn:schemas-microsoft-com:vml" Requires="v">
                <p:oleObj name="Equation" r:id="rId3" imgW="1511280" imgH="253800" progId="Equation.DSMT4">
                  <p:embed/>
                </p:oleObj>
              </mc:Choice>
              <mc:Fallback>
                <p:oleObj name="Equation" r:id="rId3" imgW="1511280" imgH="253800" progId="Equation.DSMT4">
                  <p:embed/>
                  <p:pic>
                    <p:nvPicPr>
                      <p:cNvPr id="474118" name="Object 6">
                        <a:extLst>
                          <a:ext uri="{FF2B5EF4-FFF2-40B4-BE49-F238E27FC236}">
                            <a16:creationId xmlns:a16="http://schemas.microsoft.com/office/drawing/2014/main" id="{C4F3F4E5-B33B-2F8C-B01D-54FDA3D3C3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7963" y="1698625"/>
                        <a:ext cx="2703512" cy="511175"/>
                      </a:xfrm>
                      <a:prstGeom prst="rect">
                        <a:avLst/>
                      </a:prstGeom>
                      <a:solidFill>
                        <a:schemeClr val="bg1"/>
                      </a:solidFill>
                      <a:ln>
                        <a:noFill/>
                      </a:ln>
                      <a:effectLst/>
                    </p:spPr>
                  </p:pic>
                </p:oleObj>
              </mc:Fallback>
            </mc:AlternateContent>
          </a:graphicData>
        </a:graphic>
      </p:graphicFrame>
      <p:graphicFrame>
        <p:nvGraphicFramePr>
          <p:cNvPr id="474119" name="Object 7">
            <a:extLst>
              <a:ext uri="{FF2B5EF4-FFF2-40B4-BE49-F238E27FC236}">
                <a16:creationId xmlns:a16="http://schemas.microsoft.com/office/drawing/2014/main" id="{474D60B5-421D-9479-F9A6-277569BE716F}"/>
              </a:ext>
            </a:extLst>
          </p:cNvPr>
          <p:cNvGraphicFramePr>
            <a:graphicFrameLocks noChangeAspect="1"/>
          </p:cNvGraphicFramePr>
          <p:nvPr>
            <p:extLst>
              <p:ext uri="{D42A27DB-BD31-4B8C-83A1-F6EECF244321}">
                <p14:modId xmlns:p14="http://schemas.microsoft.com/office/powerpoint/2010/main" val="2512640923"/>
              </p:ext>
            </p:extLst>
          </p:nvPr>
        </p:nvGraphicFramePr>
        <p:xfrm>
          <a:off x="2223221" y="3095479"/>
          <a:ext cx="4780684" cy="1303338"/>
        </p:xfrm>
        <a:graphic>
          <a:graphicData uri="http://schemas.openxmlformats.org/presentationml/2006/ole">
            <mc:AlternateContent xmlns:mc="http://schemas.openxmlformats.org/markup-compatibility/2006">
              <mc:Choice xmlns:v="urn:schemas-microsoft-com:vml" Requires="v">
                <p:oleObj name="Equation" r:id="rId5" imgW="2450880" imgH="685800" progId="Equation.DSMT4">
                  <p:embed/>
                </p:oleObj>
              </mc:Choice>
              <mc:Fallback>
                <p:oleObj name="Equation" r:id="rId5" imgW="2450880" imgH="685800" progId="Equation.DSMT4">
                  <p:embed/>
                  <p:pic>
                    <p:nvPicPr>
                      <p:cNvPr id="474119" name="Object 7">
                        <a:extLst>
                          <a:ext uri="{FF2B5EF4-FFF2-40B4-BE49-F238E27FC236}">
                            <a16:creationId xmlns:a16="http://schemas.microsoft.com/office/drawing/2014/main" id="{474D60B5-421D-9479-F9A6-277569BE71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3221" y="3095479"/>
                        <a:ext cx="4780684" cy="1303338"/>
                      </a:xfrm>
                      <a:prstGeom prst="rect">
                        <a:avLst/>
                      </a:prstGeom>
                      <a:solidFill>
                        <a:schemeClr val="bg1"/>
                      </a:solidFill>
                      <a:ln>
                        <a:noFill/>
                      </a:ln>
                      <a:effectLst/>
                    </p:spPr>
                  </p:pic>
                </p:oleObj>
              </mc:Fallback>
            </mc:AlternateContent>
          </a:graphicData>
        </a:graphic>
      </p:graphicFrame>
      <p:graphicFrame>
        <p:nvGraphicFramePr>
          <p:cNvPr id="474122" name="Object 10">
            <a:extLst>
              <a:ext uri="{FF2B5EF4-FFF2-40B4-BE49-F238E27FC236}">
                <a16:creationId xmlns:a16="http://schemas.microsoft.com/office/drawing/2014/main" id="{1042B140-1D78-AA98-F081-FE464045EB36}"/>
              </a:ext>
            </a:extLst>
          </p:cNvPr>
          <p:cNvGraphicFramePr>
            <a:graphicFrameLocks noChangeAspect="1"/>
          </p:cNvGraphicFramePr>
          <p:nvPr>
            <p:extLst>
              <p:ext uri="{D42A27DB-BD31-4B8C-83A1-F6EECF244321}">
                <p14:modId xmlns:p14="http://schemas.microsoft.com/office/powerpoint/2010/main" val="2515132873"/>
              </p:ext>
            </p:extLst>
          </p:nvPr>
        </p:nvGraphicFramePr>
        <p:xfrm>
          <a:off x="3916867" y="4690270"/>
          <a:ext cx="612342" cy="381000"/>
        </p:xfrm>
        <a:graphic>
          <a:graphicData uri="http://schemas.openxmlformats.org/presentationml/2006/ole">
            <mc:AlternateContent xmlns:mc="http://schemas.openxmlformats.org/markup-compatibility/2006">
              <mc:Choice xmlns:v="urn:schemas-microsoft-com:vml" Requires="v">
                <p:oleObj name="Equation" r:id="rId7" imgW="279360" imgH="380880" progId="Equation.DSMT4">
                  <p:embed/>
                </p:oleObj>
              </mc:Choice>
              <mc:Fallback>
                <p:oleObj name="Equation" r:id="rId7" imgW="279360" imgH="380880" progId="Equation.DSMT4">
                  <p:embed/>
                  <p:pic>
                    <p:nvPicPr>
                      <p:cNvPr id="474122" name="Object 10">
                        <a:extLst>
                          <a:ext uri="{FF2B5EF4-FFF2-40B4-BE49-F238E27FC236}">
                            <a16:creationId xmlns:a16="http://schemas.microsoft.com/office/drawing/2014/main" id="{1042B140-1D78-AA98-F081-FE464045EB3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16867" y="4690270"/>
                        <a:ext cx="612342" cy="381000"/>
                      </a:xfrm>
                      <a:prstGeom prst="rect">
                        <a:avLst/>
                      </a:prstGeom>
                      <a:solidFill>
                        <a:schemeClr val="bg1"/>
                      </a:solidFill>
                      <a:ln>
                        <a:noFill/>
                      </a:ln>
                      <a:effectLst/>
                    </p:spPr>
                  </p:pic>
                </p:oleObj>
              </mc:Fallback>
            </mc:AlternateContent>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9EF6E1-CFC7-0AB4-4CA5-BBE8C944C512}"/>
              </a:ext>
            </a:extLst>
          </p:cNvPr>
          <p:cNvSpPr txBox="1">
            <a:spLocks/>
          </p:cNvSpPr>
          <p:nvPr/>
        </p:nvSpPr>
        <p:spPr>
          <a:xfrm>
            <a:off x="457200" y="238127"/>
            <a:ext cx="7772400" cy="731691"/>
          </a:xfrm>
          <a:prstGeom prst="rect">
            <a:avLst/>
          </a:prstGeom>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b="1" dirty="0">
                <a:latin typeface="Times New Roman"/>
              </a:rPr>
              <a:t>Decomposition of CI (Wagstaff)</a:t>
            </a:r>
          </a:p>
        </p:txBody>
      </p:sp>
      <p:sp>
        <p:nvSpPr>
          <p:cNvPr id="2" name="Content Placeholder 2">
            <a:extLst>
              <a:ext uri="{FF2B5EF4-FFF2-40B4-BE49-F238E27FC236}">
                <a16:creationId xmlns:a16="http://schemas.microsoft.com/office/drawing/2014/main" id="{8A134B37-AC67-71C8-6DD9-8248AA6F0B49}"/>
              </a:ext>
            </a:extLst>
          </p:cNvPr>
          <p:cNvSpPr>
            <a:spLocks noGrp="1"/>
          </p:cNvSpPr>
          <p:nvPr>
            <p:ph idx="1"/>
          </p:nvPr>
        </p:nvSpPr>
        <p:spPr>
          <a:xfrm>
            <a:off x="332509" y="1200146"/>
            <a:ext cx="8811491" cy="5444836"/>
          </a:xfrm>
        </p:spPr>
        <p:txBody>
          <a:bodyPr>
            <a:normAutofit lnSpcReduction="10000"/>
          </a:bodyPr>
          <a:lstStyle/>
          <a:p>
            <a:r>
              <a:rPr b="1" dirty="0">
                <a:latin typeface="Times New Roman"/>
              </a:rPr>
              <a:t>Elasticity of y </a:t>
            </a:r>
            <a:r>
              <a:rPr lang="en-IN" b="1" dirty="0" err="1">
                <a:latin typeface="Times New Roman"/>
              </a:rPr>
              <a:t>w.r.t.</a:t>
            </a:r>
            <a:r>
              <a:rPr b="1" dirty="0">
                <a:latin typeface="Times New Roman"/>
              </a:rPr>
              <a:t> x</a:t>
            </a:r>
            <a:r>
              <a:rPr lang="en-IN" b="1" baseline="-25000" dirty="0">
                <a:latin typeface="Times New Roman"/>
              </a:rPr>
              <a:t>k</a:t>
            </a:r>
            <a:r>
              <a:rPr b="1" dirty="0">
                <a:latin typeface="Times New Roman"/>
              </a:rPr>
              <a:t>: </a:t>
            </a:r>
            <a:r>
              <a:rPr dirty="0">
                <a:latin typeface="Times New Roman"/>
              </a:rPr>
              <a:t>= (β</a:t>
            </a:r>
            <a:r>
              <a:rPr baseline="-25000" dirty="0" err="1">
                <a:latin typeface="Times New Roman"/>
              </a:rPr>
              <a:t>k</a:t>
            </a:r>
            <a:r>
              <a:rPr dirty="0" err="1">
                <a:latin typeface="Times New Roman"/>
              </a:rPr>
              <a:t>·x̄</a:t>
            </a:r>
            <a:r>
              <a:rPr baseline="-25000" dirty="0" err="1">
                <a:latin typeface="Times New Roman"/>
              </a:rPr>
              <a:t>k</a:t>
            </a:r>
            <a:r>
              <a:rPr dirty="0">
                <a:latin typeface="Times New Roman"/>
              </a:rPr>
              <a:t>) / μ  (</a:t>
            </a:r>
            <a:r>
              <a:rPr lang="en-IN" dirty="0">
                <a:latin typeface="Times New Roman"/>
              </a:rPr>
              <a:t>%</a:t>
            </a:r>
            <a:r>
              <a:rPr dirty="0">
                <a:latin typeface="Times New Roman"/>
              </a:rPr>
              <a:t>change in </a:t>
            </a:r>
            <a:r>
              <a:rPr lang="en-IN" dirty="0">
                <a:latin typeface="Times New Roman"/>
              </a:rPr>
              <a:t>y</a:t>
            </a:r>
            <a:r>
              <a:rPr dirty="0">
                <a:latin typeface="Times New Roman"/>
              </a:rPr>
              <a:t> per 1-unit change in </a:t>
            </a:r>
            <a:r>
              <a:rPr dirty="0" err="1">
                <a:latin typeface="Times New Roman"/>
              </a:rPr>
              <a:t>x</a:t>
            </a:r>
            <a:r>
              <a:rPr baseline="-25000" dirty="0" err="1">
                <a:latin typeface="Times New Roman"/>
              </a:rPr>
              <a:t>k</a:t>
            </a:r>
            <a:r>
              <a:rPr dirty="0">
                <a:latin typeface="Times New Roman"/>
              </a:rPr>
              <a:t> relative to its mean).</a:t>
            </a:r>
            <a:endParaRPr lang="en-IN" dirty="0">
              <a:latin typeface="Times New Roman"/>
            </a:endParaRPr>
          </a:p>
          <a:p>
            <a:endParaRPr dirty="0">
              <a:latin typeface="Times New Roman"/>
            </a:endParaRPr>
          </a:p>
          <a:p>
            <a:r>
              <a:rPr b="1" dirty="0">
                <a:latin typeface="Times New Roman"/>
              </a:rPr>
              <a:t>CI of determinant</a:t>
            </a:r>
            <a:r>
              <a:rPr lang="en-IN" b="1" dirty="0"/>
              <a:t> </a:t>
            </a:r>
            <a:r>
              <a:rPr lang="en-IN" b="1" dirty="0" err="1"/>
              <a:t>x</a:t>
            </a:r>
            <a:r>
              <a:rPr lang="en-IN" b="1" baseline="-25000" dirty="0" err="1"/>
              <a:t>k</a:t>
            </a:r>
            <a:r>
              <a:rPr lang="en-IN" b="1" baseline="-25000" dirty="0"/>
              <a:t> </a:t>
            </a:r>
            <a:r>
              <a:rPr dirty="0">
                <a:latin typeface="Times New Roman"/>
              </a:rPr>
              <a:t>:  CI{</a:t>
            </a:r>
            <a:r>
              <a:rPr lang="en-IN" b="1" dirty="0" err="1"/>
              <a:t>x</a:t>
            </a:r>
            <a:r>
              <a:rPr lang="en-IN" b="1" baseline="-25000" dirty="0" err="1"/>
              <a:t>k</a:t>
            </a:r>
            <a:r>
              <a:rPr dirty="0">
                <a:latin typeface="Times New Roman"/>
              </a:rPr>
              <a:t>} = (2 / </a:t>
            </a:r>
            <a:r>
              <a:rPr lang="en-IN" dirty="0" err="1"/>
              <a:t>x̄</a:t>
            </a:r>
            <a:r>
              <a:rPr lang="en-IN" baseline="-25000" dirty="0" err="1"/>
              <a:t>k</a:t>
            </a:r>
            <a:r>
              <a:rPr dirty="0">
                <a:latin typeface="Times New Roman"/>
              </a:rPr>
              <a:t>) · </a:t>
            </a:r>
            <a:r>
              <a:rPr dirty="0" err="1">
                <a:latin typeface="Times New Roman"/>
              </a:rPr>
              <a:t>cov</a:t>
            </a:r>
            <a:r>
              <a:rPr dirty="0">
                <a:latin typeface="Times New Roman"/>
              </a:rPr>
              <a:t>(</a:t>
            </a:r>
            <a:r>
              <a:rPr lang="en-IN" dirty="0" err="1"/>
              <a:t>x</a:t>
            </a:r>
            <a:r>
              <a:rPr lang="en-IN" baseline="-25000" dirty="0" err="1"/>
              <a:t>k</a:t>
            </a:r>
            <a:r>
              <a:rPr dirty="0">
                <a:latin typeface="Times New Roman"/>
              </a:rPr>
              <a:t>, R).</a:t>
            </a:r>
            <a:endParaRPr lang="en-IN" dirty="0">
              <a:latin typeface="Times New Roman"/>
            </a:endParaRPr>
          </a:p>
          <a:p>
            <a:endParaRPr dirty="0">
              <a:latin typeface="Times New Roman"/>
            </a:endParaRPr>
          </a:p>
          <a:p>
            <a:r>
              <a:rPr b="1" dirty="0">
                <a:latin typeface="Times New Roman"/>
              </a:rPr>
              <a:t>Contribution of </a:t>
            </a:r>
            <a:r>
              <a:rPr lang="en-IN" b="1" dirty="0" err="1"/>
              <a:t>x</a:t>
            </a:r>
            <a:r>
              <a:rPr lang="en-IN" b="1" baseline="-25000" dirty="0" err="1"/>
              <a:t>k</a:t>
            </a:r>
            <a:r>
              <a:rPr lang="en-IN" b="1" baseline="-25000" dirty="0"/>
              <a:t> </a:t>
            </a:r>
            <a:r>
              <a:rPr b="1" dirty="0">
                <a:latin typeface="Times New Roman"/>
              </a:rPr>
              <a:t>to </a:t>
            </a:r>
            <a:r>
              <a:rPr b="1" dirty="0" err="1">
                <a:latin typeface="Times New Roman"/>
              </a:rPr>
              <a:t>CI</a:t>
            </a:r>
            <a:r>
              <a:rPr b="1" baseline="-25000" dirty="0" err="1">
                <a:latin typeface="Times New Roman"/>
              </a:rPr>
              <a:t>y</a:t>
            </a:r>
            <a:r>
              <a:rPr dirty="0">
                <a:latin typeface="Times New Roman"/>
              </a:rPr>
              <a:t>:  =</a:t>
            </a:r>
            <a:r>
              <a:rPr lang="en-IN" dirty="0">
                <a:latin typeface="Times New Roman"/>
              </a:rPr>
              <a:t> Elasticity(</a:t>
            </a:r>
            <a:r>
              <a:rPr lang="en-IN" dirty="0" err="1"/>
              <a:t>x</a:t>
            </a:r>
            <a:r>
              <a:rPr lang="en-IN" baseline="-25000" dirty="0" err="1"/>
              <a:t>k</a:t>
            </a:r>
            <a:r>
              <a:rPr lang="en-IN" b="1" dirty="0">
                <a:latin typeface="Times New Roman"/>
              </a:rPr>
              <a:t>) × </a:t>
            </a:r>
            <a:r>
              <a:rPr lang="en-IN" dirty="0"/>
              <a:t>CI of determinant</a:t>
            </a:r>
            <a:r>
              <a:rPr lang="en-IN" b="1" dirty="0"/>
              <a:t> </a:t>
            </a:r>
            <a:r>
              <a:rPr lang="en-IN" dirty="0" err="1"/>
              <a:t>x</a:t>
            </a:r>
            <a:r>
              <a:rPr lang="en-IN" baseline="-25000" dirty="0" err="1"/>
              <a:t>k</a:t>
            </a:r>
            <a:endParaRPr lang="en-IN" baseline="-25000" dirty="0"/>
          </a:p>
          <a:p>
            <a:r>
              <a:rPr lang="en-IN" b="1" baseline="-25000" dirty="0"/>
              <a:t> </a:t>
            </a:r>
            <a:endParaRPr dirty="0">
              <a:latin typeface="Times New Roman"/>
            </a:endParaRPr>
          </a:p>
          <a:p>
            <a:r>
              <a:rPr b="1" dirty="0">
                <a:latin typeface="Times New Roman"/>
              </a:rPr>
              <a:t>Percent contribution:  </a:t>
            </a:r>
            <a:r>
              <a:rPr dirty="0">
                <a:latin typeface="Times New Roman"/>
              </a:rPr>
              <a:t>=</a:t>
            </a:r>
            <a:r>
              <a:rPr lang="en-US" dirty="0"/>
              <a:t> Contribution of </a:t>
            </a:r>
            <a:r>
              <a:rPr lang="en-US" b="1" dirty="0" err="1"/>
              <a:t>x</a:t>
            </a:r>
            <a:r>
              <a:rPr lang="en-US" b="1" baseline="-25000" dirty="0" err="1"/>
              <a:t>k</a:t>
            </a:r>
            <a:r>
              <a:rPr lang="en-US" b="1" baseline="-25000" dirty="0"/>
              <a:t> </a:t>
            </a:r>
            <a:r>
              <a:rPr lang="en-US" dirty="0"/>
              <a:t>to </a:t>
            </a:r>
            <a:r>
              <a:rPr lang="en-US" dirty="0" err="1"/>
              <a:t>CI</a:t>
            </a:r>
            <a:r>
              <a:rPr lang="en-US" baseline="-25000" dirty="0" err="1"/>
              <a:t>y</a:t>
            </a:r>
            <a:r>
              <a:rPr dirty="0">
                <a:latin typeface="Times New Roman"/>
              </a:rPr>
              <a:t> / </a:t>
            </a:r>
            <a:r>
              <a:rPr lang="en-IN" dirty="0">
                <a:latin typeface="Times New Roman"/>
              </a:rPr>
              <a:t>Total CI of y</a:t>
            </a:r>
          </a:p>
          <a:p>
            <a:endParaRPr dirty="0">
              <a:latin typeface="Times New Roman"/>
            </a:endParaRPr>
          </a:p>
          <a:p>
            <a:r>
              <a:rPr b="1" dirty="0">
                <a:latin typeface="Times New Roman"/>
              </a:rPr>
              <a:t>Residual term:  </a:t>
            </a:r>
            <a:r>
              <a:rPr dirty="0" err="1">
                <a:latin typeface="Times New Roman"/>
              </a:rPr>
              <a:t>GCε</a:t>
            </a:r>
            <a:r>
              <a:rPr dirty="0">
                <a:latin typeface="Times New Roman"/>
              </a:rPr>
              <a:t> / μ, where </a:t>
            </a:r>
            <a:r>
              <a:rPr lang="en-IN" dirty="0"/>
              <a:t>GC</a:t>
            </a:r>
            <a:r>
              <a:rPr lang="el-GR" dirty="0"/>
              <a:t>ε</a:t>
            </a:r>
            <a:r>
              <a:rPr dirty="0">
                <a:latin typeface="Times New Roman"/>
              </a:rPr>
              <a:t> = 2·cov(ε, R)  (unexplained inequality</a:t>
            </a:r>
            <a:r>
              <a:rPr lang="en-IN" dirty="0">
                <a:latin typeface="Times New Roman"/>
              </a:rPr>
              <a:t>/ residual</a:t>
            </a:r>
            <a:r>
              <a:rPr dirty="0">
                <a:latin typeface="Times New Roman"/>
              </a:rPr>
              <a:t>).</a:t>
            </a:r>
          </a:p>
          <a:p>
            <a:r>
              <a:rPr dirty="0">
                <a:latin typeface="Times New Roman"/>
              </a:rPr>
              <a:t>Large </a:t>
            </a:r>
            <a:r>
              <a:rPr lang="en-IN" dirty="0">
                <a:latin typeface="Times New Roman"/>
              </a:rPr>
              <a:t>Elasticity </a:t>
            </a:r>
            <a:r>
              <a:rPr dirty="0">
                <a:latin typeface="Times New Roman"/>
              </a:rPr>
              <a:t>and </a:t>
            </a:r>
            <a:r>
              <a:rPr lang="en-IN" dirty="0"/>
              <a:t>CI{</a:t>
            </a:r>
            <a:r>
              <a:rPr lang="en-IN" dirty="0" err="1"/>
              <a:t>x</a:t>
            </a:r>
            <a:r>
              <a:rPr lang="en-IN" baseline="-25000" dirty="0" err="1"/>
              <a:t>k</a:t>
            </a:r>
            <a:r>
              <a:rPr lang="en-IN" dirty="0"/>
              <a:t>} </a:t>
            </a:r>
            <a:r>
              <a:rPr dirty="0">
                <a:latin typeface="Times New Roman"/>
              </a:rPr>
              <a:t>⇒ large |</a:t>
            </a:r>
            <a:r>
              <a:rPr lang="en-IN" dirty="0">
                <a:latin typeface="Times New Roman"/>
              </a:rPr>
              <a:t>contribution</a:t>
            </a:r>
            <a:r>
              <a:rPr dirty="0">
                <a:latin typeface="Times New Roman"/>
              </a:rPr>
              <a:t>; signs indicate whether </a:t>
            </a:r>
            <a:r>
              <a:rPr dirty="0" err="1">
                <a:latin typeface="Times New Roman"/>
              </a:rPr>
              <a:t>x</a:t>
            </a:r>
            <a:r>
              <a:rPr baseline="-25000" dirty="0" err="1">
                <a:latin typeface="Times New Roman"/>
              </a:rPr>
              <a:t>k</a:t>
            </a:r>
            <a:r>
              <a:rPr dirty="0">
                <a:latin typeface="Times New Roman"/>
              </a:rPr>
              <a:t> increases or reduces</a:t>
            </a:r>
            <a:r>
              <a:rPr lang="en-IN" dirty="0">
                <a:latin typeface="Times New Roman"/>
              </a:rPr>
              <a:t> </a:t>
            </a:r>
            <a:r>
              <a:rPr dirty="0">
                <a:latin typeface="Times New Roman"/>
              </a:rPr>
              <a:t>inequality.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705134"/>
            <a:ext cx="8804564" cy="4525963"/>
          </a:xfrm>
        </p:spPr>
        <p:txBody>
          <a:bodyPr>
            <a:normAutofit/>
          </a:bodyPr>
          <a:lstStyle/>
          <a:p>
            <a:r>
              <a:rPr lang="en-US" sz="2800" dirty="0"/>
              <a:t>HAZ (Height-for-Age Z-score): WHO-standardized anthropometric index for child linear growth/ malnutrition.</a:t>
            </a:r>
          </a:p>
          <a:p>
            <a:pPr>
              <a:lnSpc>
                <a:spcPct val="150000"/>
              </a:lnSpc>
            </a:pPr>
            <a:r>
              <a:rPr sz="2800" dirty="0">
                <a:latin typeface="Times New Roman"/>
              </a:rPr>
              <a:t>Z = (X− </a:t>
            </a:r>
            <a:r>
              <a:rPr lang="en-IN" sz="2800" dirty="0">
                <a:latin typeface="Times New Roman"/>
              </a:rPr>
              <a:t>Median of reference population)</a:t>
            </a:r>
            <a:r>
              <a:rPr sz="2800" dirty="0">
                <a:latin typeface="Times New Roman"/>
              </a:rPr>
              <a:t> / </a:t>
            </a:r>
            <a:r>
              <a:rPr lang="en-IN" sz="2800" dirty="0">
                <a:latin typeface="Times New Roman"/>
              </a:rPr>
              <a:t>SD (Reference population) </a:t>
            </a:r>
          </a:p>
          <a:p>
            <a:r>
              <a:rPr lang="en-US" sz="2800" dirty="0"/>
              <a:t>Interpretation: HAZ&lt;−2 → stunting</a:t>
            </a:r>
          </a:p>
          <a:p>
            <a:endParaRPr lang="en-US" sz="2800" dirty="0"/>
          </a:p>
          <a:p>
            <a:endParaRPr lang="en-US" sz="2800" dirty="0"/>
          </a:p>
        </p:txBody>
      </p:sp>
      <p:sp>
        <p:nvSpPr>
          <p:cNvPr id="4" name="Title 1"/>
          <p:cNvSpPr txBox="1">
            <a:spLocks/>
          </p:cNvSpPr>
          <p:nvPr/>
        </p:nvSpPr>
        <p:spPr>
          <a:xfrm>
            <a:off x="457200" y="238127"/>
            <a:ext cx="7772400" cy="1362075"/>
          </a:xfrm>
          <a:prstGeom prst="rect">
            <a:avLst/>
          </a:prstGeom>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b="1" dirty="0">
                <a:latin typeface="Times New Roman"/>
              </a:rPr>
              <a:t>HAZ (Height-for-Age Z-score)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25" y="1768429"/>
            <a:ext cx="7772400" cy="923330"/>
          </a:xfrm>
        </p:spPr>
        <p:txBody>
          <a:bodyPr/>
          <a:lstStyle/>
          <a:p>
            <a:pPr algn="ctr"/>
            <a:r>
              <a:rPr dirty="0">
                <a:latin typeface="Times New Roman"/>
              </a:rPr>
              <a:t>Stata Practice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1428</TotalTime>
  <Words>3376</Words>
  <Application>Microsoft Office PowerPoint</Application>
  <PresentationFormat>On-screen Show (4:3)</PresentationFormat>
  <Paragraphs>233</Paragraphs>
  <Slides>37</Slides>
  <Notes>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3</vt:i4>
      </vt:variant>
      <vt:variant>
        <vt:lpstr>Slide Titles</vt:lpstr>
      </vt:variant>
      <vt:variant>
        <vt:i4>37</vt:i4>
      </vt:variant>
    </vt:vector>
  </HeadingPairs>
  <TitlesOfParts>
    <vt:vector size="49" baseType="lpstr">
      <vt:lpstr>ＭＳ Ｐゴシック</vt:lpstr>
      <vt:lpstr>Arial</vt:lpstr>
      <vt:lpstr>Arial Unicode MS</vt:lpstr>
      <vt:lpstr>Calibri</vt:lpstr>
      <vt:lpstr>Symbol</vt:lpstr>
      <vt:lpstr>Tahoma</vt:lpstr>
      <vt:lpstr>Times New Roman</vt:lpstr>
      <vt:lpstr>Wingdings</vt:lpstr>
      <vt:lpstr>Office Theme</vt:lpstr>
      <vt:lpstr>Microsoft Drawing 1.01</vt:lpstr>
      <vt:lpstr>Chart</vt:lpstr>
      <vt:lpstr>Equation</vt:lpstr>
      <vt:lpstr>Estimation of Concentration Index (CI), Concentration Curve &amp; Decomposition of CI</vt:lpstr>
      <vt:lpstr>Learning Objectives</vt:lpstr>
      <vt:lpstr>Concepts</vt:lpstr>
      <vt:lpstr>In general, a concentration curve plots the cumulative % of the health variable against the cumulative % of the population ranked by socioeconomic status.</vt:lpstr>
      <vt:lpstr>Graphing concentration curves from grouped data</vt:lpstr>
      <vt:lpstr>Example of a Concentration Curve Derived from Grouped Data</vt:lpstr>
      <vt:lpstr>Graphing the concentration Curve for individual data</vt:lpstr>
      <vt:lpstr>Graphing the concentration Curve L(p) for individual data (STATA commands)</vt:lpstr>
      <vt:lpstr>Fractional Rank </vt:lpstr>
      <vt:lpstr>Fractional Rank on [0,1] Ruler</vt:lpstr>
      <vt:lpstr>Definition (Weighted Mid-Rank/ cumulative share)</vt:lpstr>
      <vt:lpstr>Why E[R]=1/2 (Proof)</vt:lpstr>
      <vt:lpstr>Estimation of Concentration Index  From Geometry to Covariance</vt:lpstr>
      <vt:lpstr>PowerPoint Presentation</vt:lpstr>
      <vt:lpstr>Concentration Index (CI)</vt:lpstr>
      <vt:lpstr>PowerPoint Presentation</vt:lpstr>
      <vt:lpstr>PowerPoint Presentation</vt:lpstr>
      <vt:lpstr>PowerPoint Presentation</vt:lpstr>
      <vt:lpstr>Concentration Index (CI) from Grouped Data</vt:lpstr>
      <vt:lpstr>PowerPoint Presentation</vt:lpstr>
      <vt:lpstr>Readings</vt:lpstr>
      <vt:lpstr>Convenient covariance Method</vt:lpstr>
      <vt:lpstr>PowerPoint Presentation</vt:lpstr>
      <vt:lpstr>Properties of the concentration index</vt:lpstr>
      <vt:lpstr>PowerPoint Presentation</vt:lpstr>
      <vt:lpstr>PowerPoint Presentation</vt:lpstr>
      <vt:lpstr>PowerPoint Presentation</vt:lpstr>
      <vt:lpstr>Binary Outcomes &amp; Normalizations to CI</vt:lpstr>
      <vt:lpstr>Total inequality in health and socioeconomic-related health inequality </vt:lpstr>
      <vt:lpstr>Lorenz Curve and Concentration Curve</vt:lpstr>
      <vt:lpstr>Demographic standardization of the concentration index</vt:lpstr>
      <vt:lpstr>Demographic standardization of the concentration index</vt:lpstr>
      <vt:lpstr>Decomposition of CI (Wagstaff)</vt:lpstr>
      <vt:lpstr>Decomposition of the Concentration Index</vt:lpstr>
      <vt:lpstr>PowerPoint Presentation</vt:lpstr>
      <vt:lpstr>PowerPoint Presentation</vt:lpstr>
      <vt:lpstr>Stata Practice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Abhishek dhakad</dc:creator>
  <cp:keywords/>
  <dc:description>generated using python-pptx</dc:description>
  <cp:lastModifiedBy>Abhishek dhakad</cp:lastModifiedBy>
  <cp:revision>138</cp:revision>
  <dcterms:created xsi:type="dcterms:W3CDTF">2013-01-27T09:14:16Z</dcterms:created>
  <dcterms:modified xsi:type="dcterms:W3CDTF">2026-09-08T08:34:50Z</dcterms:modified>
  <cp:category/>
</cp:coreProperties>
</file>